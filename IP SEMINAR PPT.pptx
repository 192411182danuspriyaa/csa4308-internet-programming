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14"/>
  </p:notesMasterIdLst>
  <p:sldIdLst>
    <p:sldId id="263" r:id="rId2"/>
    <p:sldId id="256" r:id="rId3"/>
    <p:sldId id="257" r:id="rId4"/>
    <p:sldId id="258" r:id="rId5"/>
    <p:sldId id="259" r:id="rId6"/>
    <p:sldId id="260" r:id="rId7"/>
    <p:sldId id="261" r:id="rId8"/>
    <p:sldId id="262"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19AB9F-D37C-4AFA-8CE2-09C41C5994DD}" v="1" dt="2026-08-24T07:59:30.5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EEB070-B0D5-4805-8945-9C4366B4C342}"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6A404-C01B-4C74-B2CF-52125B8DE37A}" type="slidenum">
              <a:rPr lang="en-IN" smtClean="0"/>
              <a:t>‹#›</a:t>
            </a:fld>
            <a:endParaRPr lang="en-IN"/>
          </a:p>
        </p:txBody>
      </p:sp>
    </p:spTree>
    <p:extLst>
      <p:ext uri="{BB962C8B-B14F-4D97-AF65-F5344CB8AC3E}">
        <p14:creationId xmlns:p14="http://schemas.microsoft.com/office/powerpoint/2010/main" val="2236262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5G and Edge Computing in Web Applications, with a special focus on </a:t>
            </a:r>
            <a:r>
              <a:rPr lang="en-IN" sz="1200" b="0" i="0" kern="1200" dirty="0" err="1">
                <a:solidFill>
                  <a:schemeClr val="tx1"/>
                </a:solidFill>
                <a:effectLst/>
                <a:latin typeface="+mn-lt"/>
                <a:ea typeface="+mn-ea"/>
                <a:cs typeface="+mn-cs"/>
              </a:rPr>
              <a:t>WebSockets</a:t>
            </a:r>
            <a:r>
              <a:rPr lang="en-IN" sz="1200" b="0" i="0" kern="1200" dirty="0">
                <a:solidFill>
                  <a:schemeClr val="tx1"/>
                </a:solidFill>
                <a:effectLst/>
                <a:latin typeface="+mn-lt"/>
                <a:ea typeface="+mn-ea"/>
                <a:cs typeface="+mn-cs"/>
              </a:rPr>
              <a:t>. These technologies are important for applications that require fast and real-time communication, such as online gaming, chat applications, live tracking and IoT</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1</a:t>
            </a:fld>
            <a:endParaRPr lang="en-IN"/>
          </a:p>
        </p:txBody>
      </p:sp>
    </p:spTree>
    <p:extLst>
      <p:ext uri="{BB962C8B-B14F-4D97-AF65-F5344CB8AC3E}">
        <p14:creationId xmlns:p14="http://schemas.microsoft.com/office/powerpoint/2010/main" val="204918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Today, users expect applications to update information immediately. For example, when we track a food delivery, we expect the driver's location to update continuously. Real-time communication is therefore important, and 5G, Edge Computing and </a:t>
            </a:r>
            <a:r>
              <a:rPr lang="en-IN" sz="1200" b="0" i="0" kern="1200" dirty="0" err="1">
                <a:solidFill>
                  <a:schemeClr val="tx1"/>
                </a:solidFill>
                <a:effectLst/>
                <a:latin typeface="+mn-lt"/>
                <a:ea typeface="+mn-ea"/>
                <a:cs typeface="+mn-cs"/>
              </a:rPr>
              <a:t>WebSockets</a:t>
            </a:r>
            <a:r>
              <a:rPr lang="en-IN" sz="1200" b="0" i="0" kern="1200" dirty="0">
                <a:solidFill>
                  <a:schemeClr val="tx1"/>
                </a:solidFill>
                <a:effectLst/>
                <a:latin typeface="+mn-lt"/>
                <a:ea typeface="+mn-ea"/>
                <a:cs typeface="+mn-cs"/>
              </a:rPr>
              <a:t> can help provide this experience.</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2</a:t>
            </a:fld>
            <a:endParaRPr lang="en-IN"/>
          </a:p>
        </p:txBody>
      </p:sp>
    </p:spTree>
    <p:extLst>
      <p:ext uri="{BB962C8B-B14F-4D97-AF65-F5344CB8AC3E}">
        <p14:creationId xmlns:p14="http://schemas.microsoft.com/office/powerpoint/2010/main" val="3848614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5G stands for fifth-generation mobile network technology. One of its important features is low latency. Low latency means less delay between sending and receiving data. This is useful for applications such as online gaming, video communication and real-time tracking.</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3</a:t>
            </a:fld>
            <a:endParaRPr lang="en-IN"/>
          </a:p>
        </p:txBody>
      </p:sp>
    </p:spTree>
    <p:extLst>
      <p:ext uri="{BB962C8B-B14F-4D97-AF65-F5344CB8AC3E}">
        <p14:creationId xmlns:p14="http://schemas.microsoft.com/office/powerpoint/2010/main" val="3051626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Normally, data may travel to a cloud server that is far away. Edge computing places computing resources closer to the user. Because the distance is reduced, some data can be processed faster</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4</a:t>
            </a:fld>
            <a:endParaRPr lang="en-IN"/>
          </a:p>
        </p:txBody>
      </p:sp>
    </p:spTree>
    <p:extLst>
      <p:ext uri="{BB962C8B-B14F-4D97-AF65-F5344CB8AC3E}">
        <p14:creationId xmlns:p14="http://schemas.microsoft.com/office/powerpoint/2010/main" val="3705631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WebSocket allows the client and server to maintain an open connection. Once the connection is established, both sides can send data whenever necessary. This makes </a:t>
            </a:r>
            <a:r>
              <a:rPr lang="en-IN" sz="1200" b="0" i="0" kern="1200" dirty="0" err="1">
                <a:solidFill>
                  <a:schemeClr val="tx1"/>
                </a:solidFill>
                <a:effectLst/>
                <a:latin typeface="+mn-lt"/>
                <a:ea typeface="+mn-ea"/>
                <a:cs typeface="+mn-cs"/>
              </a:rPr>
              <a:t>WebSockets</a:t>
            </a:r>
            <a:r>
              <a:rPr lang="en-IN" sz="1200" b="0" i="0" kern="1200" dirty="0">
                <a:solidFill>
                  <a:schemeClr val="tx1"/>
                </a:solidFill>
                <a:effectLst/>
                <a:latin typeface="+mn-lt"/>
                <a:ea typeface="+mn-ea"/>
                <a:cs typeface="+mn-cs"/>
              </a:rPr>
              <a:t> very useful for real-time applications</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5</a:t>
            </a:fld>
            <a:endParaRPr lang="en-IN"/>
          </a:p>
        </p:txBody>
      </p:sp>
    </p:spTree>
    <p:extLst>
      <p:ext uri="{BB962C8B-B14F-4D97-AF65-F5344CB8AC3E}">
        <p14:creationId xmlns:p14="http://schemas.microsoft.com/office/powerpoint/2010/main" val="418990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HTTP is mainly based on the request-response model. The client sends a request and waits for a response. WebSocket maintains a persistent connection, allowing the server to send updates immediately. Therefore, WebSocket is better for applications requiring continuous real-time communication.</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6</a:t>
            </a:fld>
            <a:endParaRPr lang="en-IN"/>
          </a:p>
        </p:txBody>
      </p:sp>
    </p:spTree>
    <p:extLst>
      <p:ext uri="{BB962C8B-B14F-4D97-AF65-F5344CB8AC3E}">
        <p14:creationId xmlns:p14="http://schemas.microsoft.com/office/powerpoint/2010/main" val="980523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The process begins with a WebSocket handshake. Once the server accepts it, the connection remains open. The client and server can then exchange messages continuously without creating a new connection for every message.</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7</a:t>
            </a:fld>
            <a:endParaRPr lang="en-IN"/>
          </a:p>
        </p:txBody>
      </p:sp>
    </p:spTree>
    <p:extLst>
      <p:ext uri="{BB962C8B-B14F-4D97-AF65-F5344CB8AC3E}">
        <p14:creationId xmlns:p14="http://schemas.microsoft.com/office/powerpoint/2010/main" val="2934744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These three technologies perform different functions. 5G provides fast connectivity. Edge computing brings processing closer to the user. </a:t>
            </a:r>
            <a:r>
              <a:rPr lang="en-IN" sz="1200" b="0" i="0" kern="1200" dirty="0" err="1">
                <a:solidFill>
                  <a:schemeClr val="tx1"/>
                </a:solidFill>
                <a:effectLst/>
                <a:latin typeface="+mn-lt"/>
                <a:ea typeface="+mn-ea"/>
                <a:cs typeface="+mn-cs"/>
              </a:rPr>
              <a:t>WebSockets</a:t>
            </a:r>
            <a:r>
              <a:rPr lang="en-IN" sz="1200" b="0" i="0" kern="1200" dirty="0">
                <a:solidFill>
                  <a:schemeClr val="tx1"/>
                </a:solidFill>
                <a:effectLst/>
                <a:latin typeface="+mn-lt"/>
                <a:ea typeface="+mn-ea"/>
                <a:cs typeface="+mn-cs"/>
              </a:rPr>
              <a:t> provide continuous communication between the application and server. Together, they can create highly responsive web applications.</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8</a:t>
            </a:fld>
            <a:endParaRPr lang="en-IN"/>
          </a:p>
        </p:txBody>
      </p:sp>
    </p:spTree>
    <p:extLst>
      <p:ext uri="{BB962C8B-B14F-4D97-AF65-F5344CB8AC3E}">
        <p14:creationId xmlns:p14="http://schemas.microsoft.com/office/powerpoint/2010/main" val="192557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Although these technologies provide many advantages, they also have challenges. WebSocket connections must be secured, and servers need to manage potentially large numbers of persistent connections. Edge infrastructure can also increase deployment costs.</a:t>
            </a:r>
            <a:endParaRPr lang="en-IN" dirty="0"/>
          </a:p>
        </p:txBody>
      </p:sp>
      <p:sp>
        <p:nvSpPr>
          <p:cNvPr id="4" name="Slide Number Placeholder 3"/>
          <p:cNvSpPr>
            <a:spLocks noGrp="1"/>
          </p:cNvSpPr>
          <p:nvPr>
            <p:ph type="sldNum" sz="quarter" idx="5"/>
          </p:nvPr>
        </p:nvSpPr>
        <p:spPr/>
        <p:txBody>
          <a:bodyPr/>
          <a:lstStyle/>
          <a:p>
            <a:fld id="{4DB6A404-C01B-4C74-B2CF-52125B8DE37A}" type="slidenum">
              <a:rPr lang="en-IN" smtClean="0"/>
              <a:t>10</a:t>
            </a:fld>
            <a:endParaRPr lang="en-IN"/>
          </a:p>
        </p:txBody>
      </p:sp>
    </p:spTree>
    <p:extLst>
      <p:ext uri="{BB962C8B-B14F-4D97-AF65-F5344CB8AC3E}">
        <p14:creationId xmlns:p14="http://schemas.microsoft.com/office/powerpoint/2010/main" val="1755668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DB6A404-C01B-4C74-B2CF-52125B8DE37A}" type="slidenum">
              <a:rPr lang="en-IN" smtClean="0"/>
              <a:t>11</a:t>
            </a:fld>
            <a:endParaRPr lang="en-IN"/>
          </a:p>
        </p:txBody>
      </p:sp>
    </p:spTree>
    <p:extLst>
      <p:ext uri="{BB962C8B-B14F-4D97-AF65-F5344CB8AC3E}">
        <p14:creationId xmlns:p14="http://schemas.microsoft.com/office/powerpoint/2010/main" val="3929496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CFA9D5-D512-4065-ACA5-ADB26577A040}"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1840441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CFA9D5-D512-4065-ACA5-ADB26577A040}"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3339528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CFA9D5-D512-4065-ACA5-ADB26577A040}"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887283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0ECFA9D5-D512-4065-ACA5-ADB26577A040}" type="datetimeFigureOut">
              <a:rPr lang="en-IN" smtClean="0"/>
              <a:t>24-08-2026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1635207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0ECFA9D5-D512-4065-ACA5-ADB26577A040}" type="datetimeFigureOut">
              <a:rPr lang="en-IN" smtClean="0"/>
              <a:t>24-08-2026</a:t>
            </a:fld>
            <a:endParaRPr lang="en-IN"/>
          </a:p>
        </p:txBody>
      </p:sp>
      <p:sp>
        <p:nvSpPr>
          <p:cNvPr id="11" name="Footer Placeholder 10"/>
          <p:cNvSpPr>
            <a:spLocks noGrp="1"/>
          </p:cNvSpPr>
          <p:nvPr>
            <p:ph type="ftr" sz="quarter" idx="11"/>
          </p:nvPr>
        </p:nvSpPr>
        <p:spPr/>
        <p:txBody>
          <a:bodyPr/>
          <a:lstStyle/>
          <a:p>
            <a:endParaRPr lang="en-IN"/>
          </a:p>
        </p:txBody>
      </p:sp>
      <p:sp>
        <p:nvSpPr>
          <p:cNvPr id="12" name="Slide Number Placeholder 11"/>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577783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0ECFA9D5-D512-4065-ACA5-ADB26577A040}" type="datetimeFigureOut">
              <a:rPr lang="en-IN" smtClean="0"/>
              <a:t>24-08-2026</a:t>
            </a:fld>
            <a:endParaRPr lang="en-IN"/>
          </a:p>
        </p:txBody>
      </p:sp>
      <p:sp>
        <p:nvSpPr>
          <p:cNvPr id="7" name="Footer Placeholder 6"/>
          <p:cNvSpPr>
            <a:spLocks noGrp="1"/>
          </p:cNvSpPr>
          <p:nvPr>
            <p:ph type="ftr" sz="quarter" idx="11"/>
          </p:nvPr>
        </p:nvSpPr>
        <p:spPr/>
        <p:txBody>
          <a:bodyPr/>
          <a:lstStyle/>
          <a:p>
            <a:endParaRPr lang="en-IN"/>
          </a:p>
        </p:txBody>
      </p:sp>
      <p:sp>
        <p:nvSpPr>
          <p:cNvPr id="8" name="Slide Number Placeholder 7"/>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1587779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ECFA9D5-D512-4065-ACA5-ADB26577A040}"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4102849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ECFA9D5-D512-4065-ACA5-ADB26577A040}" type="datetimeFigureOut">
              <a:rPr lang="en-IN" smtClean="0"/>
              <a:t>24-08-2026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164324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ECFA9D5-D512-4065-ACA5-ADB26577A040}" type="datetimeFigureOut">
              <a:rPr lang="en-IN" smtClean="0"/>
              <a:t>24-08-2026</a:t>
            </a:fld>
            <a:endParaRPr lang="en-IN"/>
          </a:p>
        </p:txBody>
      </p:sp>
      <p:sp>
        <p:nvSpPr>
          <p:cNvPr id="9" name="Footer Placeholder 8"/>
          <p:cNvSpPr>
            <a:spLocks noGrp="1"/>
          </p:cNvSpPr>
          <p:nvPr>
            <p:ph type="ftr" sz="quarter" idx="11"/>
          </p:nvPr>
        </p:nvSpPr>
        <p:spPr>
          <a:xfrm>
            <a:off x="3499101" y="6356350"/>
            <a:ext cx="5911517" cy="365125"/>
          </a:xfrm>
        </p:spPr>
        <p:txBody>
          <a:bodyPr/>
          <a:lstStyle/>
          <a:p>
            <a:endParaRPr lang="en-IN"/>
          </a:p>
        </p:txBody>
      </p:sp>
      <p:sp>
        <p:nvSpPr>
          <p:cNvPr id="10" name="Slide Number Placeholder 9"/>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2980472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CFA9D5-D512-4065-ACA5-ADB26577A040}" type="datetimeFigureOut">
              <a:rPr lang="en-IN" smtClean="0"/>
              <a:t>24-08-2026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243251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CFA9D5-D512-4065-ACA5-ADB26577A040}" type="datetimeFigureOut">
              <a:rPr lang="en-IN" smtClean="0"/>
              <a:t>24-08-2026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6BCA7C-9C97-4EE3-A2D0-92DC53EF4CCF}" type="slidenum">
              <a:rPr lang="en-IN" smtClean="0"/>
              <a:t>‹#›</a:t>
            </a:fld>
            <a:endParaRPr lang="en-IN"/>
          </a:p>
        </p:txBody>
      </p:sp>
    </p:spTree>
    <p:extLst>
      <p:ext uri="{BB962C8B-B14F-4D97-AF65-F5344CB8AC3E}">
        <p14:creationId xmlns:p14="http://schemas.microsoft.com/office/powerpoint/2010/main" val="332265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0ECFA9D5-D512-4065-ACA5-ADB26577A040}" type="datetimeFigureOut">
              <a:rPr lang="en-IN" smtClean="0"/>
              <a:t>24-08-2026</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286BCA7C-9C97-4EE3-A2D0-92DC53EF4CCF}" type="slidenum">
              <a:rPr lang="en-IN" smtClean="0"/>
              <a:t>‹#›</a:t>
            </a:fld>
            <a:endParaRPr lang="en-IN"/>
          </a:p>
        </p:txBody>
      </p:sp>
    </p:spTree>
    <p:extLst>
      <p:ext uri="{BB962C8B-B14F-4D97-AF65-F5344CB8AC3E}">
        <p14:creationId xmlns:p14="http://schemas.microsoft.com/office/powerpoint/2010/main" val="957756186"/>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62DD96-5CB0-84B6-E54D-F902C184D8EE}"/>
              </a:ext>
            </a:extLst>
          </p:cNvPr>
          <p:cNvSpPr txBox="1"/>
          <p:nvPr/>
        </p:nvSpPr>
        <p:spPr>
          <a:xfrm>
            <a:off x="1930400" y="1168400"/>
            <a:ext cx="8331200" cy="1323439"/>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5G &amp; Edge Computing in Web Applications – </a:t>
            </a:r>
            <a:r>
              <a:rPr lang="en-IN" sz="4000" b="1" dirty="0" err="1">
                <a:latin typeface="Times New Roman" panose="02020603050405020304" pitchFamily="18" charset="0"/>
                <a:cs typeface="Times New Roman" panose="02020603050405020304" pitchFamily="18" charset="0"/>
              </a:rPr>
              <a:t>WebSockets</a:t>
            </a:r>
            <a:endParaRPr lang="en-IN"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E2F3338-965F-7ECF-5F26-8321E6937CCB}"/>
              </a:ext>
            </a:extLst>
          </p:cNvPr>
          <p:cNvSpPr txBox="1"/>
          <p:nvPr/>
        </p:nvSpPr>
        <p:spPr>
          <a:xfrm>
            <a:off x="8900160" y="4937760"/>
            <a:ext cx="2794000"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R.DANUSPRIYAA</a:t>
            </a:r>
          </a:p>
          <a:p>
            <a:r>
              <a:rPr lang="en-US" sz="2000" b="1" dirty="0">
                <a:latin typeface="Times New Roman" panose="02020603050405020304" pitchFamily="18" charset="0"/>
                <a:cs typeface="Times New Roman" panose="02020603050405020304" pitchFamily="18" charset="0"/>
              </a:rPr>
              <a:t>192411182</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3192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450FDC-697D-F733-1159-3A3022F63461}"/>
              </a:ext>
            </a:extLst>
          </p:cNvPr>
          <p:cNvSpPr txBox="1"/>
          <p:nvPr/>
        </p:nvSpPr>
        <p:spPr>
          <a:xfrm>
            <a:off x="3393440" y="833120"/>
            <a:ext cx="4541520" cy="1323439"/>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Introduction</a:t>
            </a:r>
          </a:p>
          <a:p>
            <a:pPr algn="ctr"/>
            <a:endParaRPr lang="en-IN" sz="4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6A792A8-ED24-E3AD-7C25-B39FEF78EBDE}"/>
              </a:ext>
            </a:extLst>
          </p:cNvPr>
          <p:cNvSpPr txBox="1"/>
          <p:nvPr/>
        </p:nvSpPr>
        <p:spPr>
          <a:xfrm>
            <a:off x="833120" y="2062480"/>
            <a:ext cx="10312400" cy="409342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Why Real-Time Web Applications Are Needed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Modern applications require </a:t>
            </a:r>
            <a:r>
              <a:rPr lang="en-IN" sz="2000" b="1" dirty="0">
                <a:latin typeface="Times New Roman" panose="02020603050405020304" pitchFamily="18" charset="0"/>
                <a:cs typeface="Times New Roman" panose="02020603050405020304" pitchFamily="18" charset="0"/>
              </a:rPr>
              <a:t>instant data updates</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Users expect </a:t>
            </a:r>
            <a:r>
              <a:rPr lang="en-IN" sz="2000" b="1" dirty="0">
                <a:latin typeface="Times New Roman" panose="02020603050405020304" pitchFamily="18" charset="0"/>
                <a:cs typeface="Times New Roman" panose="02020603050405020304" pitchFamily="18" charset="0"/>
              </a:rPr>
              <a:t>fast and responsive applications</a:t>
            </a: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Traditional request-response communication can cause delays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Real-time applications continuously exchange information</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5G + Edge Computing + </a:t>
            </a:r>
            <a:r>
              <a:rPr lang="en-IN" sz="2000" b="1" dirty="0" err="1">
                <a:latin typeface="Times New Roman" panose="02020603050405020304" pitchFamily="18" charset="0"/>
                <a:cs typeface="Times New Roman" panose="02020603050405020304" pitchFamily="18" charset="0"/>
              </a:rPr>
              <a:t>WebSockets</a:t>
            </a:r>
            <a:r>
              <a:rPr lang="en-IN" sz="2000" dirty="0">
                <a:latin typeface="Times New Roman" panose="02020603050405020304" pitchFamily="18" charset="0"/>
                <a:cs typeface="Times New Roman" panose="02020603050405020304" pitchFamily="18" charset="0"/>
              </a:rPr>
              <a:t> help reduce latency</a:t>
            </a:r>
          </a:p>
          <a:p>
            <a:r>
              <a:rPr lang="en-IN" sz="2000" b="1" dirty="0">
                <a:latin typeface="Times New Roman" panose="02020603050405020304" pitchFamily="18" charset="0"/>
                <a:cs typeface="Times New Roman" panose="02020603050405020304" pitchFamily="18" charset="0"/>
              </a:rPr>
              <a:t>Examples:</a:t>
            </a:r>
          </a:p>
          <a:p>
            <a:pPr lvl="0"/>
            <a:r>
              <a:rPr lang="en-IN" sz="2000" dirty="0">
                <a:latin typeface="Times New Roman" panose="02020603050405020304" pitchFamily="18" charset="0"/>
                <a:cs typeface="Times New Roman" panose="02020603050405020304" pitchFamily="18" charset="0"/>
              </a:rPr>
              <a:t>Online gaming</a:t>
            </a:r>
          </a:p>
          <a:p>
            <a:pPr lvl="0"/>
            <a:r>
              <a:rPr lang="en-IN" sz="2000" dirty="0">
                <a:latin typeface="Times New Roman" panose="02020603050405020304" pitchFamily="18" charset="0"/>
                <a:cs typeface="Times New Roman" panose="02020603050405020304" pitchFamily="18" charset="0"/>
              </a:rPr>
              <a:t>Live chat</a:t>
            </a:r>
          </a:p>
          <a:p>
            <a:pPr lvl="0"/>
            <a:r>
              <a:rPr lang="en-IN" sz="2000" dirty="0">
                <a:latin typeface="Times New Roman" panose="02020603050405020304" pitchFamily="18" charset="0"/>
                <a:cs typeface="Times New Roman" panose="02020603050405020304" pitchFamily="18" charset="0"/>
              </a:rPr>
              <a:t>Video conferencing</a:t>
            </a:r>
          </a:p>
          <a:p>
            <a:pPr lvl="0"/>
            <a:r>
              <a:rPr lang="en-IN" sz="2000" dirty="0">
                <a:latin typeface="Times New Roman" panose="02020603050405020304" pitchFamily="18" charset="0"/>
                <a:cs typeface="Times New Roman" panose="02020603050405020304" pitchFamily="18" charset="0"/>
              </a:rPr>
              <a:t>Food delivery tracking</a:t>
            </a:r>
          </a:p>
          <a:p>
            <a:pPr lvl="0"/>
            <a:r>
              <a:rPr lang="en-IN" sz="2000" dirty="0">
                <a:latin typeface="Times New Roman" panose="02020603050405020304" pitchFamily="18" charset="0"/>
                <a:cs typeface="Times New Roman" panose="02020603050405020304" pitchFamily="18" charset="0"/>
              </a:rPr>
              <a:t>Stock market applications</a:t>
            </a:r>
          </a:p>
          <a:p>
            <a:pPr lvl="0"/>
            <a:r>
              <a:rPr lang="en-IN" sz="2000" dirty="0">
                <a:latin typeface="Times New Roman" panose="02020603050405020304" pitchFamily="18" charset="0"/>
                <a:cs typeface="Times New Roman" panose="02020603050405020304" pitchFamily="18" charset="0"/>
              </a:rPr>
              <a:t>IoT monitoring</a:t>
            </a:r>
          </a:p>
        </p:txBody>
      </p:sp>
    </p:spTree>
    <p:extLst>
      <p:ext uri="{BB962C8B-B14F-4D97-AF65-F5344CB8AC3E}">
        <p14:creationId xmlns:p14="http://schemas.microsoft.com/office/powerpoint/2010/main" val="3463140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FD3A08-B55F-C4A4-D628-1A1EFDF03F1B}"/>
              </a:ext>
            </a:extLst>
          </p:cNvPr>
          <p:cNvSpPr txBox="1"/>
          <p:nvPr/>
        </p:nvSpPr>
        <p:spPr>
          <a:xfrm>
            <a:off x="3159760" y="457200"/>
            <a:ext cx="4937760" cy="1323439"/>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What is 5G?</a:t>
            </a:r>
          </a:p>
          <a:p>
            <a:pPr algn="ctr"/>
            <a:endParaRPr lang="en-IN" sz="4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4E49ABE-3EB9-A555-153D-E89F290D7A68}"/>
              </a:ext>
            </a:extLst>
          </p:cNvPr>
          <p:cNvSpPr txBox="1"/>
          <p:nvPr/>
        </p:nvSpPr>
        <p:spPr>
          <a:xfrm>
            <a:off x="640080" y="1402080"/>
            <a:ext cx="10993120" cy="501675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5G – Fifth Generation Mobile Network</a:t>
            </a:r>
          </a:p>
          <a:p>
            <a:r>
              <a:rPr lang="en-IN" sz="2000" b="1" dirty="0">
                <a:latin typeface="Times New Roman" panose="02020603050405020304" pitchFamily="18" charset="0"/>
                <a:cs typeface="Times New Roman" panose="02020603050405020304" pitchFamily="18" charset="0"/>
              </a:rPr>
              <a:t>Key Features:</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High Speed</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Low Latency</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High Network Capacity</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Supports Massive Connectivity</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More Reliable Communication</a:t>
            </a:r>
            <a:endParaRPr lang="en-IN" sz="20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Benefits for Web Applications: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Faster data transmission</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Quick response time</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Better support for real-time applications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Improved mobile user experience</a:t>
            </a:r>
          </a:p>
          <a:p>
            <a:pPr algn="ctr"/>
            <a:r>
              <a:rPr lang="en-IN" sz="3200" b="1" dirty="0">
                <a:latin typeface="Times New Roman" panose="02020603050405020304" pitchFamily="18" charset="0"/>
                <a:cs typeface="Times New Roman" panose="02020603050405020304" pitchFamily="18" charset="0"/>
              </a:rPr>
              <a:t>What is Latency?</a:t>
            </a:r>
          </a:p>
          <a:p>
            <a:r>
              <a:rPr lang="en-IN" sz="2000" b="1" dirty="0">
                <a:latin typeface="Times New Roman" panose="02020603050405020304" pitchFamily="18" charset="0"/>
                <a:cs typeface="Times New Roman" panose="02020603050405020304" pitchFamily="18" charset="0"/>
              </a:rPr>
              <a:t>Latency = Time taken for data to travel from sender to receiver.</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664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7E9893-2B44-5C40-C9CA-D4E2CCD0781B}"/>
              </a:ext>
            </a:extLst>
          </p:cNvPr>
          <p:cNvSpPr txBox="1"/>
          <p:nvPr/>
        </p:nvSpPr>
        <p:spPr>
          <a:xfrm>
            <a:off x="3048000" y="623054"/>
            <a:ext cx="6096000" cy="1323439"/>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 What is Edge Computing?</a:t>
            </a:r>
          </a:p>
          <a:p>
            <a:pPr indent="0" algn="ctr">
              <a:buNone/>
            </a:pPr>
            <a:r>
              <a:rPr lang="en-IN" sz="4000" b="1" i="0" dirty="0">
                <a:solidFill>
                  <a:srgbClr val="FFFFFF"/>
                </a:solidFill>
                <a:effectLst/>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7E457BF8-E9EB-C016-2A60-E18C5A2FE8B3}"/>
              </a:ext>
            </a:extLst>
          </p:cNvPr>
          <p:cNvSpPr txBox="1"/>
          <p:nvPr/>
        </p:nvSpPr>
        <p:spPr>
          <a:xfrm>
            <a:off x="1351280" y="1747520"/>
            <a:ext cx="9174480" cy="317009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Edge Computing</a:t>
            </a:r>
          </a:p>
          <a:p>
            <a:r>
              <a:rPr lang="en-IN" sz="2000" dirty="0">
                <a:latin typeface="Times New Roman" panose="02020603050405020304" pitchFamily="18" charset="0"/>
                <a:cs typeface="Times New Roman" panose="02020603050405020304" pitchFamily="18" charset="0"/>
              </a:rPr>
              <a:t>Processing data </a:t>
            </a:r>
            <a:r>
              <a:rPr lang="en-IN" sz="2000" b="1" dirty="0">
                <a:latin typeface="Times New Roman" panose="02020603050405020304" pitchFamily="18" charset="0"/>
                <a:cs typeface="Times New Roman" panose="02020603050405020304" pitchFamily="18" charset="0"/>
              </a:rPr>
              <a:t>closer to the user or device</a:t>
            </a:r>
            <a:r>
              <a:rPr lang="en-IN" sz="2000" dirty="0">
                <a:latin typeface="Times New Roman" panose="02020603050405020304" pitchFamily="18" charset="0"/>
                <a:cs typeface="Times New Roman" panose="02020603050405020304" pitchFamily="18" charset="0"/>
              </a:rPr>
              <a:t> instead of sending everything to a distant cloud server.</a:t>
            </a:r>
          </a:p>
          <a:p>
            <a:r>
              <a:rPr lang="en-IN" sz="2000" b="1" dirty="0">
                <a:latin typeface="Times New Roman" panose="02020603050405020304" pitchFamily="18" charset="0"/>
                <a:cs typeface="Times New Roman" panose="02020603050405020304" pitchFamily="18" charset="0"/>
              </a:rPr>
              <a:t>Benefits: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Reduced latency</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Faster response</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Less network traffic</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Better real-time performance</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Local processing of data</a:t>
            </a:r>
          </a:p>
          <a:p>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BD2A1C9-5EC3-7E75-F373-5BA0DC6C91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580640"/>
            <a:ext cx="5725299" cy="3816866"/>
          </a:xfrm>
          <a:prstGeom prst="rect">
            <a:avLst/>
          </a:prstGeom>
        </p:spPr>
      </p:pic>
    </p:spTree>
    <p:extLst>
      <p:ext uri="{BB962C8B-B14F-4D97-AF65-F5344CB8AC3E}">
        <p14:creationId xmlns:p14="http://schemas.microsoft.com/office/powerpoint/2010/main" val="1754061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92FA4F-FEA4-9C33-BAEB-D234AE8DB08F}"/>
              </a:ext>
            </a:extLst>
          </p:cNvPr>
          <p:cNvSpPr txBox="1"/>
          <p:nvPr/>
        </p:nvSpPr>
        <p:spPr>
          <a:xfrm>
            <a:off x="3149600" y="440174"/>
            <a:ext cx="6096000" cy="707886"/>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What are </a:t>
            </a:r>
            <a:r>
              <a:rPr lang="en-IN" sz="4000" b="1" dirty="0" err="1">
                <a:latin typeface="Times New Roman" panose="02020603050405020304" pitchFamily="18" charset="0"/>
                <a:cs typeface="Times New Roman" panose="02020603050405020304" pitchFamily="18" charset="0"/>
              </a:rPr>
              <a:t>WebSockets</a:t>
            </a:r>
            <a:r>
              <a:rPr lang="en-IN" sz="4000" b="1"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338C9CA2-96BE-A677-D10A-4D92747DC808}"/>
              </a:ext>
            </a:extLst>
          </p:cNvPr>
          <p:cNvSpPr txBox="1"/>
          <p:nvPr/>
        </p:nvSpPr>
        <p:spPr>
          <a:xfrm>
            <a:off x="640080" y="1270001"/>
            <a:ext cx="8087360" cy="5601533"/>
          </a:xfrm>
          <a:prstGeom prst="rect">
            <a:avLst/>
          </a:prstGeom>
          <a:noFill/>
        </p:spPr>
        <p:txBody>
          <a:bodyPr wrap="square" rtlCol="0">
            <a:spAutoFit/>
          </a:bodyPr>
          <a:lstStyle/>
          <a:p>
            <a:r>
              <a:rPr lang="en-IN" sz="2000" b="1" dirty="0" err="1">
                <a:latin typeface="Times New Roman" panose="02020603050405020304" pitchFamily="18" charset="0"/>
                <a:cs typeface="Times New Roman" panose="02020603050405020304" pitchFamily="18" charset="0"/>
              </a:rPr>
              <a:t>WebSockets</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communication protocol that enables </a:t>
            </a:r>
            <a:r>
              <a:rPr lang="en-IN" sz="2000" b="1" dirty="0">
                <a:latin typeface="Times New Roman" panose="02020603050405020304" pitchFamily="18" charset="0"/>
                <a:cs typeface="Times New Roman" panose="02020603050405020304" pitchFamily="18" charset="0"/>
              </a:rPr>
              <a:t>persistent, two-way communication</a:t>
            </a:r>
            <a:r>
              <a:rPr lang="en-IN" sz="2000" dirty="0">
                <a:latin typeface="Times New Roman" panose="02020603050405020304" pitchFamily="18" charset="0"/>
                <a:cs typeface="Times New Roman" panose="02020603050405020304" pitchFamily="18" charset="0"/>
              </a:rPr>
              <a:t> between a client and server.</a:t>
            </a:r>
          </a:p>
          <a:p>
            <a:r>
              <a:rPr lang="en-IN" sz="2000" b="1" dirty="0">
                <a:latin typeface="Times New Roman" panose="02020603050405020304" pitchFamily="18" charset="0"/>
                <a:cs typeface="Times New Roman" panose="02020603050405020304" pitchFamily="18" charset="0"/>
              </a:rPr>
              <a:t>Key Characteristics:</a:t>
            </a:r>
          </a:p>
          <a:p>
            <a:pPr lvl="0"/>
            <a:r>
              <a:rPr lang="en-IN" sz="2000" dirty="0">
                <a:latin typeface="Times New Roman" panose="02020603050405020304" pitchFamily="18" charset="0"/>
                <a:cs typeface="Times New Roman" panose="02020603050405020304" pitchFamily="18" charset="0"/>
              </a:rPr>
              <a:t>🔄 Persistent connection</a:t>
            </a:r>
          </a:p>
          <a:p>
            <a:pPr lvl="0"/>
            <a:r>
              <a:rPr lang="en-IN" sz="2000" dirty="0">
                <a:latin typeface="Times New Roman" panose="02020603050405020304" pitchFamily="18" charset="0"/>
                <a:cs typeface="Times New Roman" panose="02020603050405020304" pitchFamily="18" charset="0"/>
              </a:rPr>
              <a:t>↔️ Two-way communication</a:t>
            </a:r>
          </a:p>
          <a:p>
            <a:pPr lvl="0"/>
            <a:r>
              <a:rPr lang="en-IN" sz="2000" dirty="0">
                <a:latin typeface="Times New Roman" panose="02020603050405020304" pitchFamily="18" charset="0"/>
                <a:cs typeface="Times New Roman" panose="02020603050405020304" pitchFamily="18" charset="0"/>
              </a:rPr>
              <a:t>⚡ Real-time data exchange</a:t>
            </a:r>
          </a:p>
          <a:p>
            <a:pPr lvl="0"/>
            <a:r>
              <a:rPr lang="en-IN" sz="2000" dirty="0">
                <a:latin typeface="Times New Roman" panose="02020603050405020304" pitchFamily="18" charset="0"/>
                <a:cs typeface="Times New Roman" panose="02020603050405020304" pitchFamily="18" charset="0"/>
              </a:rPr>
              <a:t>📡 Server can push data to clients</a:t>
            </a:r>
          </a:p>
          <a:p>
            <a:pPr lvl="0"/>
            <a:r>
              <a:rPr lang="en-IN" sz="2000" dirty="0">
                <a:latin typeface="Times New Roman" panose="02020603050405020304" pitchFamily="18" charset="0"/>
                <a:cs typeface="Times New Roman" panose="02020603050405020304" pitchFamily="18" charset="0"/>
              </a:rPr>
              <a:t>🔁 No repeated request required for every update</a:t>
            </a:r>
          </a:p>
          <a:p>
            <a:pPr lvl="0"/>
            <a:endParaRPr lang="en-IN" sz="2000" dirty="0">
              <a:latin typeface="Times New Roman" panose="02020603050405020304" pitchFamily="18" charset="0"/>
              <a:cs typeface="Times New Roman" panose="02020603050405020304" pitchFamily="18" charset="0"/>
            </a:endParaRP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Examples: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Chat applications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Online gaming</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Live notifications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Stock price updates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Live tracking</a:t>
            </a:r>
          </a:p>
          <a:p>
            <a:endParaRPr lang="en-IN" dirty="0"/>
          </a:p>
        </p:txBody>
      </p:sp>
      <p:sp>
        <p:nvSpPr>
          <p:cNvPr id="7" name="TextBox 6">
            <a:extLst>
              <a:ext uri="{FF2B5EF4-FFF2-40B4-BE49-F238E27FC236}">
                <a16:creationId xmlns:a16="http://schemas.microsoft.com/office/drawing/2014/main" id="{7756F246-8E9C-3939-1A74-260802A1853D}"/>
              </a:ext>
            </a:extLst>
          </p:cNvPr>
          <p:cNvSpPr txBox="1"/>
          <p:nvPr/>
        </p:nvSpPr>
        <p:spPr>
          <a:xfrm>
            <a:off x="8544560" y="1605280"/>
            <a:ext cx="3190240" cy="313932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Simple Example:</a:t>
            </a:r>
          </a:p>
          <a:p>
            <a:r>
              <a:rPr lang="en-IN" sz="2000" b="1" dirty="0">
                <a:latin typeface="Times New Roman" panose="02020603050405020304" pitchFamily="18" charset="0"/>
                <a:cs typeface="Times New Roman" panose="02020603050405020304" pitchFamily="18" charset="0"/>
              </a:rPr>
              <a:t>Without WebSocket: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Client → Request</a:t>
            </a:r>
          </a:p>
          <a:p>
            <a:r>
              <a:rPr lang="en-IN" sz="2000" dirty="0">
                <a:latin typeface="Times New Roman" panose="02020603050405020304" pitchFamily="18" charset="0"/>
                <a:cs typeface="Times New Roman" panose="02020603050405020304" pitchFamily="18" charset="0"/>
              </a:rPr>
              <a:t>Server → Response</a:t>
            </a:r>
          </a:p>
          <a:p>
            <a:r>
              <a:rPr lang="en-IN" sz="2000" dirty="0">
                <a:latin typeface="Times New Roman" panose="02020603050405020304" pitchFamily="18" charset="0"/>
                <a:cs typeface="Times New Roman" panose="02020603050405020304" pitchFamily="18" charset="0"/>
              </a:rPr>
              <a:t>Client → Request</a:t>
            </a:r>
          </a:p>
          <a:p>
            <a:r>
              <a:rPr lang="en-IN" sz="2000" dirty="0">
                <a:latin typeface="Times New Roman" panose="02020603050405020304" pitchFamily="18" charset="0"/>
                <a:cs typeface="Times New Roman" panose="02020603050405020304" pitchFamily="18" charset="0"/>
              </a:rPr>
              <a:t>Server → Response</a:t>
            </a:r>
          </a:p>
          <a:p>
            <a:r>
              <a:rPr lang="en-IN" sz="2000" b="1" dirty="0">
                <a:latin typeface="Times New Roman" panose="02020603050405020304" pitchFamily="18" charset="0"/>
                <a:cs typeface="Times New Roman" panose="02020603050405020304" pitchFamily="18" charset="0"/>
              </a:rPr>
              <a:t>With WebSocket: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Client ↔ WebSocket Server</a:t>
            </a:r>
          </a:p>
          <a:p>
            <a:r>
              <a:rPr lang="en-IN" sz="2000" dirty="0">
                <a:latin typeface="Times New Roman" panose="02020603050405020304" pitchFamily="18" charset="0"/>
                <a:cs typeface="Times New Roman" panose="02020603050405020304" pitchFamily="18" charset="0"/>
              </a:rPr>
              <a:t>       Continuous Connection</a:t>
            </a:r>
          </a:p>
          <a:p>
            <a:endParaRPr lang="en-IN" dirty="0"/>
          </a:p>
        </p:txBody>
      </p:sp>
    </p:spTree>
    <p:extLst>
      <p:ext uri="{BB962C8B-B14F-4D97-AF65-F5344CB8AC3E}">
        <p14:creationId xmlns:p14="http://schemas.microsoft.com/office/powerpoint/2010/main" val="1060303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A25221-73B5-D60D-9868-82814C2AF992}"/>
              </a:ext>
            </a:extLst>
          </p:cNvPr>
          <p:cNvSpPr txBox="1"/>
          <p:nvPr/>
        </p:nvSpPr>
        <p:spPr>
          <a:xfrm>
            <a:off x="2900680" y="436880"/>
            <a:ext cx="6390640" cy="1323439"/>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HTTP vs WebSocket</a:t>
            </a:r>
          </a:p>
          <a:p>
            <a:pPr algn="ctr"/>
            <a:endParaRPr lang="en-IN" sz="4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B3F1522-0868-5832-3F16-B670DA2C073A}"/>
              </a:ext>
            </a:extLst>
          </p:cNvPr>
          <p:cNvGraphicFramePr>
            <a:graphicFrameLocks noGrp="1"/>
          </p:cNvGraphicFramePr>
          <p:nvPr>
            <p:extLst>
              <p:ext uri="{D42A27DB-BD31-4B8C-83A1-F6EECF244321}">
                <p14:modId xmlns:p14="http://schemas.microsoft.com/office/powerpoint/2010/main" val="1406687552"/>
              </p:ext>
            </p:extLst>
          </p:nvPr>
        </p:nvGraphicFramePr>
        <p:xfrm>
          <a:off x="1130299" y="1659414"/>
          <a:ext cx="9931401" cy="3146265"/>
        </p:xfrm>
        <a:graphic>
          <a:graphicData uri="http://schemas.openxmlformats.org/drawingml/2006/table">
            <a:tbl>
              <a:tblPr/>
              <a:tblGrid>
                <a:gridCol w="3310467">
                  <a:extLst>
                    <a:ext uri="{9D8B030D-6E8A-4147-A177-3AD203B41FA5}">
                      <a16:colId xmlns:a16="http://schemas.microsoft.com/office/drawing/2014/main" val="3851231640"/>
                    </a:ext>
                  </a:extLst>
                </a:gridCol>
                <a:gridCol w="3310467">
                  <a:extLst>
                    <a:ext uri="{9D8B030D-6E8A-4147-A177-3AD203B41FA5}">
                      <a16:colId xmlns:a16="http://schemas.microsoft.com/office/drawing/2014/main" val="1001392624"/>
                    </a:ext>
                  </a:extLst>
                </a:gridCol>
                <a:gridCol w="3310467">
                  <a:extLst>
                    <a:ext uri="{9D8B030D-6E8A-4147-A177-3AD203B41FA5}">
                      <a16:colId xmlns:a16="http://schemas.microsoft.com/office/drawing/2014/main" val="3633477269"/>
                    </a:ext>
                  </a:extLst>
                </a:gridCol>
              </a:tblGrid>
              <a:tr h="464789">
                <a:tc>
                  <a:txBody>
                    <a:bodyPr/>
                    <a:lstStyle/>
                    <a:p>
                      <a:pPr>
                        <a:buNone/>
                      </a:pPr>
                      <a:r>
                        <a:rPr lang="en-IN" sz="2000" b="1" dirty="0">
                          <a:latin typeface="Times New Roman" panose="02020603050405020304" pitchFamily="18" charset="0"/>
                          <a:cs typeface="Times New Roman" panose="02020603050405020304" pitchFamily="18" charset="0"/>
                        </a:rPr>
                        <a:t>Feature</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HTTP</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WebSocket</a:t>
                      </a:r>
                    </a:p>
                  </a:txBody>
                  <a:tcPr anchor="ctr">
                    <a:lnL>
                      <a:noFill/>
                    </a:lnL>
                    <a:lnR>
                      <a:noFill/>
                    </a:lnR>
                    <a:lnT>
                      <a:noFill/>
                    </a:lnT>
                    <a:lnB>
                      <a:noFill/>
                    </a:lnB>
                    <a:noFill/>
                  </a:tcPr>
                </a:tc>
                <a:extLst>
                  <a:ext uri="{0D108BD9-81ED-4DB2-BD59-A6C34878D82A}">
                    <a16:rowId xmlns:a16="http://schemas.microsoft.com/office/drawing/2014/main" val="2818060559"/>
                  </a:ext>
                </a:extLst>
              </a:tr>
              <a:tr h="464789">
                <a:tc>
                  <a:txBody>
                    <a:bodyPr/>
                    <a:lstStyle/>
                    <a:p>
                      <a:pPr>
                        <a:buNone/>
                      </a:pPr>
                      <a:r>
                        <a:rPr lang="en-IN" sz="2000">
                          <a:latin typeface="Times New Roman" panose="02020603050405020304" pitchFamily="18" charset="0"/>
                          <a:cs typeface="Times New Roman" panose="02020603050405020304" pitchFamily="18" charset="0"/>
                        </a:rPr>
                        <a:t>Communication</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Request–Response</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Two-way</a:t>
                      </a:r>
                    </a:p>
                  </a:txBody>
                  <a:tcPr anchor="ctr">
                    <a:lnL>
                      <a:noFill/>
                    </a:lnL>
                    <a:lnR>
                      <a:noFill/>
                    </a:lnR>
                    <a:lnT>
                      <a:noFill/>
                    </a:lnT>
                    <a:lnB>
                      <a:noFill/>
                    </a:lnB>
                    <a:noFill/>
                  </a:tcPr>
                </a:tc>
                <a:extLst>
                  <a:ext uri="{0D108BD9-81ED-4DB2-BD59-A6C34878D82A}">
                    <a16:rowId xmlns:a16="http://schemas.microsoft.com/office/drawing/2014/main" val="2655716296"/>
                  </a:ext>
                </a:extLst>
              </a:tr>
              <a:tr h="464789">
                <a:tc>
                  <a:txBody>
                    <a:bodyPr/>
                    <a:lstStyle/>
                    <a:p>
                      <a:pPr>
                        <a:buNone/>
                      </a:pPr>
                      <a:r>
                        <a:rPr lang="en-IN" sz="2000">
                          <a:latin typeface="Times New Roman" panose="02020603050405020304" pitchFamily="18" charset="0"/>
                          <a:cs typeface="Times New Roman" panose="02020603050405020304" pitchFamily="18" charset="0"/>
                        </a:rPr>
                        <a:t>Connection</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Request based</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Persistent</a:t>
                      </a:r>
                    </a:p>
                  </a:txBody>
                  <a:tcPr anchor="ctr">
                    <a:lnL>
                      <a:noFill/>
                    </a:lnL>
                    <a:lnR>
                      <a:noFill/>
                    </a:lnR>
                    <a:lnT>
                      <a:noFill/>
                    </a:lnT>
                    <a:lnB>
                      <a:noFill/>
                    </a:lnB>
                    <a:noFill/>
                  </a:tcPr>
                </a:tc>
                <a:extLst>
                  <a:ext uri="{0D108BD9-81ED-4DB2-BD59-A6C34878D82A}">
                    <a16:rowId xmlns:a16="http://schemas.microsoft.com/office/drawing/2014/main" val="1184805708"/>
                  </a:ext>
                </a:extLst>
              </a:tr>
              <a:tr h="464789">
                <a:tc>
                  <a:txBody>
                    <a:bodyPr/>
                    <a:lstStyle/>
                    <a:p>
                      <a:pPr>
                        <a:buNone/>
                      </a:pPr>
                      <a:r>
                        <a:rPr lang="en-IN" sz="2000" dirty="0">
                          <a:latin typeface="Times New Roman" panose="02020603050405020304" pitchFamily="18" charset="0"/>
                          <a:cs typeface="Times New Roman" panose="02020603050405020304" pitchFamily="18" charset="0"/>
                        </a:rPr>
                        <a:t>Real-time updates</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Less suitable</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Highly suitable</a:t>
                      </a:r>
                    </a:p>
                  </a:txBody>
                  <a:tcPr anchor="ctr">
                    <a:lnL>
                      <a:noFill/>
                    </a:lnL>
                    <a:lnR>
                      <a:noFill/>
                    </a:lnR>
                    <a:lnT>
                      <a:noFill/>
                    </a:lnT>
                    <a:lnB>
                      <a:noFill/>
                    </a:lnB>
                    <a:noFill/>
                  </a:tcPr>
                </a:tc>
                <a:extLst>
                  <a:ext uri="{0D108BD9-81ED-4DB2-BD59-A6C34878D82A}">
                    <a16:rowId xmlns:a16="http://schemas.microsoft.com/office/drawing/2014/main" val="3599330284"/>
                  </a:ext>
                </a:extLst>
              </a:tr>
              <a:tr h="822320">
                <a:tc>
                  <a:txBody>
                    <a:bodyPr/>
                    <a:lstStyle/>
                    <a:p>
                      <a:pPr>
                        <a:buNone/>
                      </a:pPr>
                      <a:r>
                        <a:rPr lang="en-IN" sz="2000">
                          <a:latin typeface="Times New Roman" panose="02020603050405020304" pitchFamily="18" charset="0"/>
                          <a:cs typeface="Times New Roman" panose="02020603050405020304" pitchFamily="18" charset="0"/>
                        </a:rPr>
                        <a:t>Server can initiate updates</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Usually requires another mechanism</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Yes</a:t>
                      </a:r>
                    </a:p>
                  </a:txBody>
                  <a:tcPr anchor="ctr">
                    <a:lnL>
                      <a:noFill/>
                    </a:lnL>
                    <a:lnR>
                      <a:noFill/>
                    </a:lnR>
                    <a:lnT>
                      <a:noFill/>
                    </a:lnT>
                    <a:lnB>
                      <a:noFill/>
                    </a:lnB>
                    <a:noFill/>
                  </a:tcPr>
                </a:tc>
                <a:extLst>
                  <a:ext uri="{0D108BD9-81ED-4DB2-BD59-A6C34878D82A}">
                    <a16:rowId xmlns:a16="http://schemas.microsoft.com/office/drawing/2014/main" val="2138753950"/>
                  </a:ext>
                </a:extLst>
              </a:tr>
              <a:tr h="464789">
                <a:tc>
                  <a:txBody>
                    <a:bodyPr/>
                    <a:lstStyle/>
                    <a:p>
                      <a:pPr>
                        <a:buNone/>
                      </a:pPr>
                      <a:r>
                        <a:rPr lang="en-IN" sz="2000" dirty="0">
                          <a:latin typeface="Times New Roman" panose="02020603050405020304" pitchFamily="18" charset="0"/>
                          <a:cs typeface="Times New Roman" panose="02020603050405020304" pitchFamily="18" charset="0"/>
                        </a:rPr>
                        <a:t>Best use</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Websites, APIs</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Chat, gaming, live tracking</a:t>
                      </a:r>
                    </a:p>
                  </a:txBody>
                  <a:tcPr anchor="ctr">
                    <a:lnL>
                      <a:noFill/>
                    </a:lnL>
                    <a:lnR>
                      <a:noFill/>
                    </a:lnR>
                    <a:lnT>
                      <a:noFill/>
                    </a:lnT>
                    <a:lnB>
                      <a:noFill/>
                    </a:lnB>
                    <a:noFill/>
                  </a:tcPr>
                </a:tc>
                <a:extLst>
                  <a:ext uri="{0D108BD9-81ED-4DB2-BD59-A6C34878D82A}">
                    <a16:rowId xmlns:a16="http://schemas.microsoft.com/office/drawing/2014/main" val="3074856221"/>
                  </a:ext>
                </a:extLst>
              </a:tr>
            </a:tbl>
          </a:graphicData>
        </a:graphic>
      </p:graphicFrame>
      <p:sp>
        <p:nvSpPr>
          <p:cNvPr id="5" name="TextBox 4">
            <a:extLst>
              <a:ext uri="{FF2B5EF4-FFF2-40B4-BE49-F238E27FC236}">
                <a16:creationId xmlns:a16="http://schemas.microsoft.com/office/drawing/2014/main" id="{82CEE95F-5DEE-F558-A86F-62DA13598BCE}"/>
              </a:ext>
            </a:extLst>
          </p:cNvPr>
          <p:cNvSpPr txBox="1"/>
          <p:nvPr/>
        </p:nvSpPr>
        <p:spPr>
          <a:xfrm>
            <a:off x="1130299" y="4917440"/>
            <a:ext cx="7691120" cy="190821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Example:</a:t>
            </a:r>
          </a:p>
          <a:p>
            <a:r>
              <a:rPr lang="en-IN" sz="2000" b="1" dirty="0">
                <a:latin typeface="Times New Roman" panose="02020603050405020304" pitchFamily="18" charset="0"/>
                <a:cs typeface="Times New Roman" panose="02020603050405020304" pitchFamily="18" charset="0"/>
              </a:rPr>
              <a:t>HTTP:</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“Do I have a new message?”</a:t>
            </a:r>
          </a:p>
          <a:p>
            <a:r>
              <a:rPr lang="en-IN" sz="2000" b="1" dirty="0">
                <a:latin typeface="Times New Roman" panose="02020603050405020304" pitchFamily="18" charset="0"/>
                <a:cs typeface="Times New Roman" panose="02020603050405020304" pitchFamily="18" charset="0"/>
              </a:rPr>
              <a:t>WebSocket: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Server automatically sends: “You have a new message!”</a:t>
            </a:r>
          </a:p>
          <a:p>
            <a:endParaRPr lang="en-IN" dirty="0"/>
          </a:p>
        </p:txBody>
      </p:sp>
    </p:spTree>
    <p:extLst>
      <p:ext uri="{BB962C8B-B14F-4D97-AF65-F5344CB8AC3E}">
        <p14:creationId xmlns:p14="http://schemas.microsoft.com/office/powerpoint/2010/main" val="733746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61E3E5-7485-655B-77C3-DFC2E5B2CC9F}"/>
              </a:ext>
            </a:extLst>
          </p:cNvPr>
          <p:cNvSpPr txBox="1"/>
          <p:nvPr/>
        </p:nvSpPr>
        <p:spPr>
          <a:xfrm>
            <a:off x="3261360" y="335280"/>
            <a:ext cx="5669280" cy="1323439"/>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How </a:t>
            </a:r>
            <a:r>
              <a:rPr lang="en-IN" sz="4000" b="1" dirty="0" err="1">
                <a:latin typeface="Times New Roman" panose="02020603050405020304" pitchFamily="18" charset="0"/>
                <a:cs typeface="Times New Roman" panose="02020603050405020304" pitchFamily="18" charset="0"/>
              </a:rPr>
              <a:t>WebSockets</a:t>
            </a:r>
            <a:r>
              <a:rPr lang="en-IN" sz="4000" b="1" dirty="0">
                <a:latin typeface="Times New Roman" panose="02020603050405020304" pitchFamily="18" charset="0"/>
                <a:cs typeface="Times New Roman" panose="02020603050405020304" pitchFamily="18" charset="0"/>
              </a:rPr>
              <a:t> Work</a:t>
            </a:r>
          </a:p>
          <a:p>
            <a:pPr algn="ctr"/>
            <a:endParaRPr lang="en-IN" sz="4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A6EE58-41B4-0E4C-E81F-445E8F83158F}"/>
              </a:ext>
            </a:extLst>
          </p:cNvPr>
          <p:cNvSpPr txBox="1"/>
          <p:nvPr/>
        </p:nvSpPr>
        <p:spPr>
          <a:xfrm>
            <a:off x="721360" y="1564640"/>
            <a:ext cx="5212080" cy="347787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WebSocket Communication Process</a:t>
            </a:r>
          </a:p>
          <a:p>
            <a:r>
              <a:rPr lang="en-IN" sz="2000" b="1" dirty="0">
                <a:latin typeface="Times New Roman" panose="02020603050405020304" pitchFamily="18" charset="0"/>
                <a:cs typeface="Times New Roman" panose="02020603050405020304" pitchFamily="18" charset="0"/>
              </a:rPr>
              <a:t>Step 1 – Connection Request</a:t>
            </a:r>
          </a:p>
          <a:p>
            <a:r>
              <a:rPr lang="en-IN" sz="2000" dirty="0">
                <a:latin typeface="Times New Roman" panose="02020603050405020304" pitchFamily="18" charset="0"/>
                <a:cs typeface="Times New Roman" panose="02020603050405020304" pitchFamily="18" charset="0"/>
              </a:rPr>
              <a:t>Client requests a WebSocket connection.</a:t>
            </a:r>
          </a:p>
          <a:p>
            <a:r>
              <a:rPr lang="en-IN" sz="2000" b="1" dirty="0">
                <a:latin typeface="Times New Roman" panose="02020603050405020304" pitchFamily="18" charset="0"/>
                <a:cs typeface="Times New Roman" panose="02020603050405020304" pitchFamily="18" charset="0"/>
              </a:rPr>
              <a:t>Step 2 – Handshake</a:t>
            </a:r>
          </a:p>
          <a:p>
            <a:r>
              <a:rPr lang="en-IN" sz="2000" dirty="0">
                <a:latin typeface="Times New Roman" panose="02020603050405020304" pitchFamily="18" charset="0"/>
                <a:cs typeface="Times New Roman" panose="02020603050405020304" pitchFamily="18" charset="0"/>
              </a:rPr>
              <a:t>Server accepts the WebSocket connection.</a:t>
            </a:r>
          </a:p>
          <a:p>
            <a:r>
              <a:rPr lang="en-IN" sz="2000" b="1" dirty="0">
                <a:latin typeface="Times New Roman" panose="02020603050405020304" pitchFamily="18" charset="0"/>
                <a:cs typeface="Times New Roman" panose="02020603050405020304" pitchFamily="18" charset="0"/>
              </a:rPr>
              <a:t>Step 3 – Connection Established</a:t>
            </a:r>
          </a:p>
          <a:p>
            <a:r>
              <a:rPr lang="en-IN" sz="2000" dirty="0">
                <a:latin typeface="Times New Roman" panose="02020603050405020304" pitchFamily="18" charset="0"/>
                <a:cs typeface="Times New Roman" panose="02020603050405020304" pitchFamily="18" charset="0"/>
              </a:rPr>
              <a:t>A persistent connection is created.</a:t>
            </a:r>
          </a:p>
          <a:p>
            <a:r>
              <a:rPr lang="en-IN" sz="2000" b="1" dirty="0">
                <a:latin typeface="Times New Roman" panose="02020603050405020304" pitchFamily="18" charset="0"/>
                <a:cs typeface="Times New Roman" panose="02020603050405020304" pitchFamily="18" charset="0"/>
              </a:rPr>
              <a:t>Step 4 – Data Exchange</a:t>
            </a:r>
          </a:p>
          <a:p>
            <a:r>
              <a:rPr lang="en-IN" sz="2000" dirty="0">
                <a:latin typeface="Times New Roman" panose="02020603050405020304" pitchFamily="18" charset="0"/>
                <a:cs typeface="Times New Roman" panose="02020603050405020304" pitchFamily="18" charset="0"/>
              </a:rPr>
              <a:t>Client and server can continuously exchange messages.</a:t>
            </a:r>
          </a:p>
          <a:p>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CAF6DA0-5BEE-342D-66EA-013BF33F9AF5}"/>
              </a:ext>
            </a:extLst>
          </p:cNvPr>
          <p:cNvPicPr>
            <a:picLocks noChangeAspect="1"/>
          </p:cNvPicPr>
          <p:nvPr/>
        </p:nvPicPr>
        <p:blipFill>
          <a:blip r:embed="rId3"/>
          <a:stretch>
            <a:fillRect/>
          </a:stretch>
        </p:blipFill>
        <p:spPr>
          <a:xfrm>
            <a:off x="6258562" y="1564639"/>
            <a:ext cx="3797130" cy="3477875"/>
          </a:xfrm>
          <a:prstGeom prst="rect">
            <a:avLst/>
          </a:prstGeom>
        </p:spPr>
      </p:pic>
    </p:spTree>
    <p:extLst>
      <p:ext uri="{BB962C8B-B14F-4D97-AF65-F5344CB8AC3E}">
        <p14:creationId xmlns:p14="http://schemas.microsoft.com/office/powerpoint/2010/main" val="2680058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5CED99-29E3-29A5-A71A-9B4618A10E36}"/>
              </a:ext>
            </a:extLst>
          </p:cNvPr>
          <p:cNvSpPr txBox="1"/>
          <p:nvPr/>
        </p:nvSpPr>
        <p:spPr>
          <a:xfrm>
            <a:off x="1946018" y="274320"/>
            <a:ext cx="8299964" cy="1323439"/>
          </a:xfrm>
          <a:prstGeom prst="rect">
            <a:avLst/>
          </a:prstGeom>
          <a:noFill/>
        </p:spPr>
        <p:txBody>
          <a:bodyPr wrap="none" rtlCol="0">
            <a:spAutoFit/>
          </a:bodyPr>
          <a:lstStyle/>
          <a:p>
            <a:r>
              <a:rPr lang="en-IN" sz="4000" b="1" dirty="0">
                <a:latin typeface="Times New Roman" panose="02020603050405020304" pitchFamily="18" charset="0"/>
                <a:cs typeface="Times New Roman" panose="02020603050405020304" pitchFamily="18" charset="0"/>
              </a:rPr>
              <a:t>5G + Edge Computing + </a:t>
            </a:r>
            <a:r>
              <a:rPr lang="en-IN" sz="4000" b="1" dirty="0" err="1">
                <a:latin typeface="Times New Roman" panose="02020603050405020304" pitchFamily="18" charset="0"/>
                <a:cs typeface="Times New Roman" panose="02020603050405020304" pitchFamily="18" charset="0"/>
              </a:rPr>
              <a:t>WebSockets</a:t>
            </a:r>
            <a:endParaRPr lang="en-IN" sz="4000" b="1" dirty="0">
              <a:latin typeface="Times New Roman" panose="02020603050405020304" pitchFamily="18" charset="0"/>
              <a:cs typeface="Times New Roman" panose="02020603050405020304" pitchFamily="18" charset="0"/>
            </a:endParaRPr>
          </a:p>
          <a:p>
            <a:endParaRPr lang="en-IN" sz="4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48A1242-BE49-5A19-186C-2728DF2A1A06}"/>
              </a:ext>
            </a:extLst>
          </p:cNvPr>
          <p:cNvSpPr txBox="1"/>
          <p:nvPr/>
        </p:nvSpPr>
        <p:spPr>
          <a:xfrm>
            <a:off x="4099560" y="1597759"/>
            <a:ext cx="457708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How They Work Together</a:t>
            </a:r>
          </a:p>
        </p:txBody>
      </p:sp>
      <p:graphicFrame>
        <p:nvGraphicFramePr>
          <p:cNvPr id="8" name="Table 7">
            <a:extLst>
              <a:ext uri="{FF2B5EF4-FFF2-40B4-BE49-F238E27FC236}">
                <a16:creationId xmlns:a16="http://schemas.microsoft.com/office/drawing/2014/main" id="{9528B718-D55B-BAA1-565B-3FA96C113647}"/>
              </a:ext>
            </a:extLst>
          </p:cNvPr>
          <p:cNvGraphicFramePr>
            <a:graphicFrameLocks noGrp="1"/>
          </p:cNvGraphicFramePr>
          <p:nvPr>
            <p:extLst>
              <p:ext uri="{D42A27DB-BD31-4B8C-83A1-F6EECF244321}">
                <p14:modId xmlns:p14="http://schemas.microsoft.com/office/powerpoint/2010/main" val="3191811193"/>
              </p:ext>
            </p:extLst>
          </p:nvPr>
        </p:nvGraphicFramePr>
        <p:xfrm>
          <a:off x="1051560" y="2467134"/>
          <a:ext cx="10515600" cy="1463040"/>
        </p:xfrm>
        <a:graphic>
          <a:graphicData uri="http://schemas.openxmlformats.org/drawingml/2006/table">
            <a:tbl>
              <a:tblPr/>
              <a:tblGrid>
                <a:gridCol w="5257800">
                  <a:extLst>
                    <a:ext uri="{9D8B030D-6E8A-4147-A177-3AD203B41FA5}">
                      <a16:colId xmlns:a16="http://schemas.microsoft.com/office/drawing/2014/main" val="2363070622"/>
                    </a:ext>
                  </a:extLst>
                </a:gridCol>
                <a:gridCol w="5257800">
                  <a:extLst>
                    <a:ext uri="{9D8B030D-6E8A-4147-A177-3AD203B41FA5}">
                      <a16:colId xmlns:a16="http://schemas.microsoft.com/office/drawing/2014/main" val="2161450573"/>
                    </a:ext>
                  </a:extLst>
                </a:gridCol>
              </a:tblGrid>
              <a:tr h="0">
                <a:tc>
                  <a:txBody>
                    <a:bodyPr/>
                    <a:lstStyle/>
                    <a:p>
                      <a:pPr>
                        <a:buNone/>
                      </a:pPr>
                      <a:r>
                        <a:rPr lang="en-IN" b="1">
                          <a:latin typeface="Times New Roman" panose="02020603050405020304" pitchFamily="18" charset="0"/>
                          <a:cs typeface="Times New Roman" panose="02020603050405020304" pitchFamily="18" charset="0"/>
                        </a:rPr>
                        <a:t>Technology</a:t>
                      </a:r>
                    </a:p>
                  </a:txBody>
                  <a:tcPr anchor="ctr">
                    <a:lnL>
                      <a:noFill/>
                    </a:lnL>
                    <a:lnR>
                      <a:noFill/>
                    </a:lnR>
                    <a:lnT>
                      <a:noFill/>
                    </a:lnT>
                    <a:lnB>
                      <a:noFill/>
                    </a:lnB>
                    <a:noFill/>
                  </a:tcPr>
                </a:tc>
                <a:tc>
                  <a:txBody>
                    <a:bodyPr/>
                    <a:lstStyle/>
                    <a:p>
                      <a:pPr>
                        <a:buNone/>
                      </a:pPr>
                      <a:r>
                        <a:rPr lang="en-IN" b="0" dirty="0">
                          <a:latin typeface="Times New Roman" panose="02020603050405020304" pitchFamily="18" charset="0"/>
                          <a:cs typeface="Times New Roman" panose="02020603050405020304" pitchFamily="18" charset="0"/>
                        </a:rPr>
                        <a:t>Main Role</a:t>
                      </a:r>
                    </a:p>
                  </a:txBody>
                  <a:tcPr anchor="ctr">
                    <a:lnL>
                      <a:noFill/>
                    </a:lnL>
                    <a:lnR>
                      <a:noFill/>
                    </a:lnR>
                    <a:lnT>
                      <a:noFill/>
                    </a:lnT>
                    <a:lnB>
                      <a:noFill/>
                    </a:lnB>
                    <a:noFill/>
                  </a:tcPr>
                </a:tc>
                <a:extLst>
                  <a:ext uri="{0D108BD9-81ED-4DB2-BD59-A6C34878D82A}">
                    <a16:rowId xmlns:a16="http://schemas.microsoft.com/office/drawing/2014/main" val="46165934"/>
                  </a:ext>
                </a:extLst>
              </a:tr>
              <a:tr h="0">
                <a:tc>
                  <a:txBody>
                    <a:bodyPr/>
                    <a:lstStyle/>
                    <a:p>
                      <a:pPr>
                        <a:buNone/>
                      </a:pPr>
                      <a:r>
                        <a:rPr lang="en-IN" b="1">
                          <a:latin typeface="Times New Roman" panose="02020603050405020304" pitchFamily="18" charset="0"/>
                          <a:cs typeface="Times New Roman" panose="02020603050405020304" pitchFamily="18" charset="0"/>
                        </a:rPr>
                        <a:t>5G</a:t>
                      </a:r>
                    </a:p>
                  </a:txBody>
                  <a:tcPr anchor="ctr">
                    <a:lnL>
                      <a:noFill/>
                    </a:lnL>
                    <a:lnR>
                      <a:noFill/>
                    </a:lnR>
                    <a:lnT>
                      <a:noFill/>
                    </a:lnT>
                    <a:lnB>
                      <a:noFill/>
                    </a:lnB>
                    <a:noFill/>
                  </a:tcPr>
                </a:tc>
                <a:tc>
                  <a:txBody>
                    <a:bodyPr/>
                    <a:lstStyle/>
                    <a:p>
                      <a:pPr>
                        <a:buNone/>
                      </a:pPr>
                      <a:r>
                        <a:rPr lang="en-IN" b="0" dirty="0">
                          <a:latin typeface="Times New Roman" panose="02020603050405020304" pitchFamily="18" charset="0"/>
                          <a:cs typeface="Times New Roman" panose="02020603050405020304" pitchFamily="18" charset="0"/>
                        </a:rPr>
                        <a:t>Fast and low-latency connectivity</a:t>
                      </a:r>
                    </a:p>
                  </a:txBody>
                  <a:tcPr anchor="ctr">
                    <a:lnL>
                      <a:noFill/>
                    </a:lnL>
                    <a:lnR>
                      <a:noFill/>
                    </a:lnR>
                    <a:lnT>
                      <a:noFill/>
                    </a:lnT>
                    <a:lnB>
                      <a:noFill/>
                    </a:lnB>
                    <a:noFill/>
                  </a:tcPr>
                </a:tc>
                <a:extLst>
                  <a:ext uri="{0D108BD9-81ED-4DB2-BD59-A6C34878D82A}">
                    <a16:rowId xmlns:a16="http://schemas.microsoft.com/office/drawing/2014/main" val="3337880079"/>
                  </a:ext>
                </a:extLst>
              </a:tr>
              <a:tr h="0">
                <a:tc>
                  <a:txBody>
                    <a:bodyPr/>
                    <a:lstStyle/>
                    <a:p>
                      <a:pPr>
                        <a:buNone/>
                      </a:pPr>
                      <a:r>
                        <a:rPr lang="en-IN" b="1">
                          <a:latin typeface="Times New Roman" panose="02020603050405020304" pitchFamily="18" charset="0"/>
                          <a:cs typeface="Times New Roman" panose="02020603050405020304" pitchFamily="18" charset="0"/>
                        </a:rPr>
                        <a:t>Edge Computing</a:t>
                      </a:r>
                    </a:p>
                  </a:txBody>
                  <a:tcPr anchor="ctr">
                    <a:lnL>
                      <a:noFill/>
                    </a:lnL>
                    <a:lnR>
                      <a:noFill/>
                    </a:lnR>
                    <a:lnT>
                      <a:noFill/>
                    </a:lnT>
                    <a:lnB>
                      <a:noFill/>
                    </a:lnB>
                    <a:noFill/>
                  </a:tcPr>
                </a:tc>
                <a:tc>
                  <a:txBody>
                    <a:bodyPr/>
                    <a:lstStyle/>
                    <a:p>
                      <a:pPr>
                        <a:buNone/>
                      </a:pPr>
                      <a:r>
                        <a:rPr lang="en-IN" b="0" dirty="0">
                          <a:latin typeface="Times New Roman" panose="02020603050405020304" pitchFamily="18" charset="0"/>
                          <a:cs typeface="Times New Roman" panose="02020603050405020304" pitchFamily="18" charset="0"/>
                        </a:rPr>
                        <a:t>Processing closer to users</a:t>
                      </a:r>
                    </a:p>
                  </a:txBody>
                  <a:tcPr anchor="ctr">
                    <a:lnL>
                      <a:noFill/>
                    </a:lnL>
                    <a:lnR>
                      <a:noFill/>
                    </a:lnR>
                    <a:lnT>
                      <a:noFill/>
                    </a:lnT>
                    <a:lnB>
                      <a:noFill/>
                    </a:lnB>
                    <a:noFill/>
                  </a:tcPr>
                </a:tc>
                <a:extLst>
                  <a:ext uri="{0D108BD9-81ED-4DB2-BD59-A6C34878D82A}">
                    <a16:rowId xmlns:a16="http://schemas.microsoft.com/office/drawing/2014/main" val="604141472"/>
                  </a:ext>
                </a:extLst>
              </a:tr>
              <a:tr h="0">
                <a:tc>
                  <a:txBody>
                    <a:bodyPr/>
                    <a:lstStyle/>
                    <a:p>
                      <a:pPr>
                        <a:buNone/>
                      </a:pPr>
                      <a:r>
                        <a:rPr lang="en-IN" b="1" dirty="0" err="1">
                          <a:latin typeface="Times New Roman" panose="02020603050405020304" pitchFamily="18" charset="0"/>
                          <a:cs typeface="Times New Roman" panose="02020603050405020304" pitchFamily="18" charset="0"/>
                        </a:rPr>
                        <a:t>WebSockets</a:t>
                      </a:r>
                      <a:endParaRPr lang="en-IN" b="1"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b="0" dirty="0">
                          <a:latin typeface="Times New Roman" panose="02020603050405020304" pitchFamily="18" charset="0"/>
                          <a:cs typeface="Times New Roman" panose="02020603050405020304" pitchFamily="18" charset="0"/>
                        </a:rPr>
                        <a:t>Continuous two-way communication</a:t>
                      </a:r>
                    </a:p>
                  </a:txBody>
                  <a:tcPr anchor="ctr">
                    <a:lnL>
                      <a:noFill/>
                    </a:lnL>
                    <a:lnR>
                      <a:noFill/>
                    </a:lnR>
                    <a:lnT>
                      <a:noFill/>
                    </a:lnT>
                    <a:lnB>
                      <a:noFill/>
                    </a:lnB>
                    <a:noFill/>
                  </a:tcPr>
                </a:tc>
                <a:extLst>
                  <a:ext uri="{0D108BD9-81ED-4DB2-BD59-A6C34878D82A}">
                    <a16:rowId xmlns:a16="http://schemas.microsoft.com/office/drawing/2014/main" val="1517997607"/>
                  </a:ext>
                </a:extLst>
              </a:tr>
            </a:tbl>
          </a:graphicData>
        </a:graphic>
      </p:graphicFrame>
      <p:pic>
        <p:nvPicPr>
          <p:cNvPr id="10" name="Picture 9">
            <a:extLst>
              <a:ext uri="{FF2B5EF4-FFF2-40B4-BE49-F238E27FC236}">
                <a16:creationId xmlns:a16="http://schemas.microsoft.com/office/drawing/2014/main" id="{BF4CBA8E-89CE-BEF6-37FB-9735A9F68C0A}"/>
              </a:ext>
            </a:extLst>
          </p:cNvPr>
          <p:cNvPicPr>
            <a:picLocks noChangeAspect="1"/>
          </p:cNvPicPr>
          <p:nvPr/>
        </p:nvPicPr>
        <p:blipFill>
          <a:blip r:embed="rId3"/>
          <a:stretch>
            <a:fillRect/>
          </a:stretch>
        </p:blipFill>
        <p:spPr>
          <a:xfrm>
            <a:off x="861060" y="4104640"/>
            <a:ext cx="10287000" cy="2661920"/>
          </a:xfrm>
          <a:prstGeom prst="rect">
            <a:avLst/>
          </a:prstGeom>
        </p:spPr>
      </p:pic>
    </p:spTree>
    <p:extLst>
      <p:ext uri="{BB962C8B-B14F-4D97-AF65-F5344CB8AC3E}">
        <p14:creationId xmlns:p14="http://schemas.microsoft.com/office/powerpoint/2010/main" val="497230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81D2BB-B388-4C97-DA34-FCDB37432B18}"/>
              </a:ext>
            </a:extLst>
          </p:cNvPr>
          <p:cNvSpPr txBox="1"/>
          <p:nvPr/>
        </p:nvSpPr>
        <p:spPr>
          <a:xfrm>
            <a:off x="3287603" y="426720"/>
            <a:ext cx="5616794" cy="2308324"/>
          </a:xfrm>
          <a:prstGeom prst="rect">
            <a:avLst/>
          </a:prstGeom>
          <a:noFill/>
        </p:spPr>
        <p:txBody>
          <a:bodyPr wrap="none" rtlCol="0">
            <a:spAutoFit/>
          </a:bodyPr>
          <a:lstStyle/>
          <a:p>
            <a:r>
              <a:rPr lang="en-IN" sz="4000" b="1" dirty="0">
                <a:latin typeface="Times New Roman" panose="02020603050405020304" pitchFamily="18" charset="0"/>
                <a:cs typeface="Times New Roman" panose="02020603050405020304" pitchFamily="18" charset="0"/>
              </a:rPr>
              <a:t>Real-World Applications</a:t>
            </a:r>
          </a:p>
          <a:p>
            <a:endParaRPr lang="en-IN" sz="40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Applications of 5G + Edge + </a:t>
            </a:r>
            <a:r>
              <a:rPr lang="en-IN" sz="2400" b="1" dirty="0" err="1">
                <a:latin typeface="Times New Roman" panose="02020603050405020304" pitchFamily="18" charset="0"/>
                <a:cs typeface="Times New Roman" panose="02020603050405020304" pitchFamily="18" charset="0"/>
              </a:rPr>
              <a:t>WebSockets</a:t>
            </a:r>
            <a:endParaRPr lang="en-IN" sz="2400" b="1" dirty="0">
              <a:latin typeface="Times New Roman" panose="02020603050405020304" pitchFamily="18" charset="0"/>
              <a:cs typeface="Times New Roman" panose="02020603050405020304" pitchFamily="18" charset="0"/>
            </a:endParaRPr>
          </a:p>
          <a:p>
            <a:endParaRPr lang="en-IN" sz="4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CAF21F8-8B41-86E6-C7EC-649B0EDA0A0A}"/>
              </a:ext>
            </a:extLst>
          </p:cNvPr>
          <p:cNvSpPr txBox="1"/>
          <p:nvPr/>
        </p:nvSpPr>
        <p:spPr>
          <a:xfrm>
            <a:off x="990600" y="2487573"/>
            <a:ext cx="5186680" cy="406265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 Online Gaming</a:t>
            </a:r>
          </a:p>
          <a:p>
            <a:pPr lvl="0"/>
            <a:r>
              <a:rPr lang="en-IN" sz="2000" dirty="0">
                <a:latin typeface="Times New Roman" panose="02020603050405020304" pitchFamily="18" charset="0"/>
                <a:cs typeface="Times New Roman" panose="02020603050405020304" pitchFamily="18" charset="0"/>
              </a:rPr>
              <a:t>Player movements</a:t>
            </a:r>
          </a:p>
          <a:p>
            <a:pPr lvl="0"/>
            <a:r>
              <a:rPr lang="en-IN" sz="2000" dirty="0">
                <a:latin typeface="Times New Roman" panose="02020603050405020304" pitchFamily="18" charset="0"/>
                <a:cs typeface="Times New Roman" panose="02020603050405020304" pitchFamily="18" charset="0"/>
              </a:rPr>
              <a:t>Game events</a:t>
            </a:r>
          </a:p>
          <a:p>
            <a:pPr lvl="0"/>
            <a:r>
              <a:rPr lang="en-IN" sz="2000" dirty="0">
                <a:latin typeface="Times New Roman" panose="02020603050405020304" pitchFamily="18" charset="0"/>
                <a:cs typeface="Times New Roman" panose="02020603050405020304" pitchFamily="18" charset="0"/>
              </a:rPr>
              <a:t>Live scores</a:t>
            </a:r>
          </a:p>
          <a:p>
            <a:r>
              <a:rPr lang="en-IN" sz="2000" b="1" dirty="0">
                <a:latin typeface="Times New Roman" panose="02020603050405020304" pitchFamily="18" charset="0"/>
                <a:cs typeface="Times New Roman" panose="02020603050405020304" pitchFamily="18" charset="0"/>
              </a:rPr>
              <a:t>💬 Chat Applications</a:t>
            </a:r>
          </a:p>
          <a:p>
            <a:pPr lvl="0"/>
            <a:r>
              <a:rPr lang="en-IN" sz="2000" dirty="0">
                <a:latin typeface="Times New Roman" panose="02020603050405020304" pitchFamily="18" charset="0"/>
                <a:cs typeface="Times New Roman" panose="02020603050405020304" pitchFamily="18" charset="0"/>
              </a:rPr>
              <a:t>Instant messaging</a:t>
            </a:r>
          </a:p>
          <a:p>
            <a:pPr lvl="0"/>
            <a:r>
              <a:rPr lang="en-IN" sz="2000" dirty="0">
                <a:latin typeface="Times New Roman" panose="02020603050405020304" pitchFamily="18" charset="0"/>
                <a:cs typeface="Times New Roman" panose="02020603050405020304" pitchFamily="18" charset="0"/>
              </a:rPr>
              <a:t>Online status</a:t>
            </a:r>
          </a:p>
          <a:p>
            <a:pPr lvl="0"/>
            <a:r>
              <a:rPr lang="en-IN" sz="2000" dirty="0">
                <a:latin typeface="Times New Roman" panose="02020603050405020304" pitchFamily="18" charset="0"/>
                <a:cs typeface="Times New Roman" panose="02020603050405020304" pitchFamily="18" charset="0"/>
              </a:rPr>
              <a:t>Notifications</a:t>
            </a:r>
          </a:p>
          <a:p>
            <a:r>
              <a:rPr lang="en-IN" sz="2000" b="1" dirty="0">
                <a:latin typeface="Times New Roman" panose="02020603050405020304" pitchFamily="18" charset="0"/>
                <a:cs typeface="Times New Roman" panose="02020603050405020304" pitchFamily="18" charset="0"/>
              </a:rPr>
              <a:t>📍 Live Tracking</a:t>
            </a:r>
          </a:p>
          <a:p>
            <a:pPr lvl="0"/>
            <a:r>
              <a:rPr lang="en-IN" sz="2000" dirty="0">
                <a:latin typeface="Times New Roman" panose="02020603050405020304" pitchFamily="18" charset="0"/>
                <a:cs typeface="Times New Roman" panose="02020603050405020304" pitchFamily="18" charset="0"/>
              </a:rPr>
              <a:t>Food delivery</a:t>
            </a:r>
          </a:p>
          <a:p>
            <a:pPr lvl="0"/>
            <a:r>
              <a:rPr lang="en-IN" sz="2000" dirty="0">
                <a:latin typeface="Times New Roman" panose="02020603050405020304" pitchFamily="18" charset="0"/>
                <a:cs typeface="Times New Roman" panose="02020603050405020304" pitchFamily="18" charset="0"/>
              </a:rPr>
              <a:t>Cab tracking</a:t>
            </a:r>
          </a:p>
          <a:p>
            <a:pPr lvl="0"/>
            <a:r>
              <a:rPr lang="en-IN" sz="2000" dirty="0">
                <a:latin typeface="Times New Roman" panose="02020603050405020304" pitchFamily="18" charset="0"/>
                <a:cs typeface="Times New Roman" panose="02020603050405020304" pitchFamily="18" charset="0"/>
              </a:rPr>
              <a:t>Vehicle monitoring</a:t>
            </a:r>
          </a:p>
          <a:p>
            <a:endParaRPr lang="en-IN" dirty="0"/>
          </a:p>
        </p:txBody>
      </p:sp>
      <p:sp>
        <p:nvSpPr>
          <p:cNvPr id="4" name="TextBox 3">
            <a:extLst>
              <a:ext uri="{FF2B5EF4-FFF2-40B4-BE49-F238E27FC236}">
                <a16:creationId xmlns:a16="http://schemas.microsoft.com/office/drawing/2014/main" id="{933E74B5-A8C7-2B99-171D-29C577020B7A}"/>
              </a:ext>
            </a:extLst>
          </p:cNvPr>
          <p:cNvSpPr txBox="1"/>
          <p:nvPr/>
        </p:nvSpPr>
        <p:spPr>
          <a:xfrm>
            <a:off x="7060357" y="2487573"/>
            <a:ext cx="3688080" cy="406265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 IoT</a:t>
            </a:r>
          </a:p>
          <a:p>
            <a:pPr lvl="0"/>
            <a:r>
              <a:rPr lang="en-IN" sz="2000" dirty="0">
                <a:latin typeface="Times New Roman" panose="02020603050405020304" pitchFamily="18" charset="0"/>
                <a:cs typeface="Times New Roman" panose="02020603050405020304" pitchFamily="18" charset="0"/>
              </a:rPr>
              <a:t>Sensor monitoring</a:t>
            </a:r>
          </a:p>
          <a:p>
            <a:pPr lvl="0"/>
            <a:r>
              <a:rPr lang="en-IN" sz="2000" dirty="0">
                <a:latin typeface="Times New Roman" panose="02020603050405020304" pitchFamily="18" charset="0"/>
                <a:cs typeface="Times New Roman" panose="02020603050405020304" pitchFamily="18" charset="0"/>
              </a:rPr>
              <a:t>Smart devices</a:t>
            </a:r>
          </a:p>
          <a:p>
            <a:pPr lvl="0"/>
            <a:r>
              <a:rPr lang="en-IN" sz="2000" dirty="0">
                <a:latin typeface="Times New Roman" panose="02020603050405020304" pitchFamily="18" charset="0"/>
                <a:cs typeface="Times New Roman" panose="02020603050405020304" pitchFamily="18" charset="0"/>
              </a:rPr>
              <a:t>Industrial systems</a:t>
            </a:r>
          </a:p>
          <a:p>
            <a:r>
              <a:rPr lang="en-IN" sz="2000" b="1" dirty="0">
                <a:latin typeface="Times New Roman" panose="02020603050405020304" pitchFamily="18" charset="0"/>
                <a:cs typeface="Times New Roman" panose="02020603050405020304" pitchFamily="18" charset="0"/>
              </a:rPr>
              <a:t>📈 Financial Applications</a:t>
            </a:r>
          </a:p>
          <a:p>
            <a:pPr lvl="0"/>
            <a:r>
              <a:rPr lang="en-IN" sz="2000" dirty="0">
                <a:latin typeface="Times New Roman" panose="02020603050405020304" pitchFamily="18" charset="0"/>
                <a:cs typeface="Times New Roman" panose="02020603050405020304" pitchFamily="18" charset="0"/>
              </a:rPr>
              <a:t>Live stock prices</a:t>
            </a:r>
          </a:p>
          <a:p>
            <a:pPr lvl="0"/>
            <a:r>
              <a:rPr lang="en-IN" sz="2000" dirty="0">
                <a:latin typeface="Times New Roman" panose="02020603050405020304" pitchFamily="18" charset="0"/>
                <a:cs typeface="Times New Roman" panose="02020603050405020304" pitchFamily="18" charset="0"/>
              </a:rPr>
              <a:t>Market updates</a:t>
            </a:r>
          </a:p>
          <a:p>
            <a:pPr lvl="0"/>
            <a:r>
              <a:rPr lang="en-IN" sz="2000" dirty="0">
                <a:latin typeface="Times New Roman" panose="02020603050405020304" pitchFamily="18" charset="0"/>
                <a:cs typeface="Times New Roman" panose="02020603050405020304" pitchFamily="18" charset="0"/>
              </a:rPr>
              <a:t>Trading information</a:t>
            </a:r>
          </a:p>
          <a:p>
            <a:r>
              <a:rPr lang="en-IN" sz="2000" b="1" dirty="0">
                <a:latin typeface="Times New Roman" panose="02020603050405020304" pitchFamily="18" charset="0"/>
                <a:cs typeface="Times New Roman" panose="02020603050405020304" pitchFamily="18" charset="0"/>
              </a:rPr>
              <a:t>🎥 Video &amp; Collaboration</a:t>
            </a:r>
          </a:p>
          <a:p>
            <a:pPr lvl="0"/>
            <a:r>
              <a:rPr lang="en-IN" sz="2000" dirty="0">
                <a:latin typeface="Times New Roman" panose="02020603050405020304" pitchFamily="18" charset="0"/>
                <a:cs typeface="Times New Roman" panose="02020603050405020304" pitchFamily="18" charset="0"/>
              </a:rPr>
              <a:t>Online classes</a:t>
            </a:r>
          </a:p>
          <a:p>
            <a:pPr lvl="0"/>
            <a:r>
              <a:rPr lang="en-IN" sz="2000" dirty="0">
                <a:latin typeface="Times New Roman" panose="02020603050405020304" pitchFamily="18" charset="0"/>
                <a:cs typeface="Times New Roman" panose="02020603050405020304" pitchFamily="18" charset="0"/>
              </a:rPr>
              <a:t>Video conferencing</a:t>
            </a:r>
          </a:p>
          <a:p>
            <a:pPr lvl="0"/>
            <a:r>
              <a:rPr lang="en-IN" sz="2000" dirty="0">
                <a:latin typeface="Times New Roman" panose="02020603050405020304" pitchFamily="18" charset="0"/>
                <a:cs typeface="Times New Roman" panose="02020603050405020304" pitchFamily="18" charset="0"/>
              </a:rPr>
              <a:t>Collaborative applications</a:t>
            </a:r>
          </a:p>
          <a:p>
            <a:endParaRPr lang="en-IN" dirty="0"/>
          </a:p>
        </p:txBody>
      </p:sp>
    </p:spTree>
    <p:extLst>
      <p:ext uri="{BB962C8B-B14F-4D97-AF65-F5344CB8AC3E}">
        <p14:creationId xmlns:p14="http://schemas.microsoft.com/office/powerpoint/2010/main" val="1201750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89EFBD-BD68-E2F3-D452-5B9A18472D22}"/>
              </a:ext>
            </a:extLst>
          </p:cNvPr>
          <p:cNvSpPr txBox="1"/>
          <p:nvPr/>
        </p:nvSpPr>
        <p:spPr>
          <a:xfrm>
            <a:off x="3119120" y="348734"/>
            <a:ext cx="6096000" cy="1323439"/>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Advantages &amp; Challenges</a:t>
            </a:r>
          </a:p>
          <a:p>
            <a:pPr indent="0" algn="l">
              <a:buNone/>
            </a:pPr>
            <a:r>
              <a:rPr lang="en-IN" sz="4000" b="1" i="0" dirty="0">
                <a:solidFill>
                  <a:srgbClr val="FFFFFF"/>
                </a:solidFill>
                <a:effectLst/>
                <a:latin typeface="Times New Roman" panose="02020603050405020304" pitchFamily="18" charset="0"/>
                <a:cs typeface="Times New Roman" panose="02020603050405020304" pitchFamily="18" charset="0"/>
              </a:rPr>
              <a:t>Advantages &amp; Challenges</a:t>
            </a:r>
          </a:p>
        </p:txBody>
      </p:sp>
      <p:sp>
        <p:nvSpPr>
          <p:cNvPr id="5" name="TextBox 4">
            <a:extLst>
              <a:ext uri="{FF2B5EF4-FFF2-40B4-BE49-F238E27FC236}">
                <a16:creationId xmlns:a16="http://schemas.microsoft.com/office/drawing/2014/main" id="{6DE60D11-1EEB-F22E-1FB8-594243EB9F2A}"/>
              </a:ext>
            </a:extLst>
          </p:cNvPr>
          <p:cNvSpPr txBox="1"/>
          <p:nvPr/>
        </p:nvSpPr>
        <p:spPr>
          <a:xfrm>
            <a:off x="904240" y="2379224"/>
            <a:ext cx="6096000" cy="2246769"/>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Advantages</a:t>
            </a:r>
          </a:p>
          <a:p>
            <a:pPr lvl="0"/>
            <a:r>
              <a:rPr lang="en-IN" sz="2000" dirty="0">
                <a:latin typeface="Times New Roman" panose="02020603050405020304" pitchFamily="18" charset="0"/>
                <a:cs typeface="Times New Roman" panose="02020603050405020304" pitchFamily="18" charset="0"/>
              </a:rPr>
              <a:t>⚡ Low latency</a:t>
            </a:r>
          </a:p>
          <a:p>
            <a:pPr lvl="0"/>
            <a:r>
              <a:rPr lang="en-IN" sz="2000" dirty="0">
                <a:latin typeface="Times New Roman" panose="02020603050405020304" pitchFamily="18" charset="0"/>
                <a:cs typeface="Times New Roman" panose="02020603050405020304" pitchFamily="18" charset="0"/>
              </a:rPr>
              <a:t>🔄 Real-time communication</a:t>
            </a:r>
          </a:p>
          <a:p>
            <a:pPr lvl="0"/>
            <a:r>
              <a:rPr lang="en-IN" sz="2000" dirty="0">
                <a:latin typeface="Times New Roman" panose="02020603050405020304" pitchFamily="18" charset="0"/>
                <a:cs typeface="Times New Roman" panose="02020603050405020304" pitchFamily="18" charset="0"/>
              </a:rPr>
              <a:t>🚀 Faster response</a:t>
            </a:r>
          </a:p>
          <a:p>
            <a:pPr lvl="0"/>
            <a:r>
              <a:rPr lang="en-IN" sz="2000" dirty="0">
                <a:latin typeface="Times New Roman" panose="02020603050405020304" pitchFamily="18" charset="0"/>
                <a:cs typeface="Times New Roman" panose="02020603050405020304" pitchFamily="18" charset="0"/>
              </a:rPr>
              <a:t>📱 Better user experience</a:t>
            </a:r>
          </a:p>
          <a:p>
            <a:pPr lvl="0"/>
            <a:r>
              <a:rPr lang="en-IN" sz="2000" dirty="0">
                <a:latin typeface="Times New Roman" panose="02020603050405020304" pitchFamily="18" charset="0"/>
                <a:cs typeface="Times New Roman" panose="02020603050405020304" pitchFamily="18" charset="0"/>
              </a:rPr>
              <a:t>🌐 Supports many connected devices</a:t>
            </a:r>
          </a:p>
          <a:p>
            <a:pPr lvl="0"/>
            <a:r>
              <a:rPr lang="en-IN" sz="2000" dirty="0">
                <a:latin typeface="Times New Roman" panose="02020603050405020304" pitchFamily="18" charset="0"/>
                <a:cs typeface="Times New Roman" panose="02020603050405020304" pitchFamily="18" charset="0"/>
              </a:rPr>
              <a:t>📊 Efficient live data updates</a:t>
            </a:r>
          </a:p>
        </p:txBody>
      </p:sp>
      <p:sp>
        <p:nvSpPr>
          <p:cNvPr id="7" name="TextBox 6">
            <a:extLst>
              <a:ext uri="{FF2B5EF4-FFF2-40B4-BE49-F238E27FC236}">
                <a16:creationId xmlns:a16="http://schemas.microsoft.com/office/drawing/2014/main" id="{184BF0A8-4038-4753-1431-C4065A885042}"/>
              </a:ext>
            </a:extLst>
          </p:cNvPr>
          <p:cNvSpPr txBox="1"/>
          <p:nvPr/>
        </p:nvSpPr>
        <p:spPr>
          <a:xfrm>
            <a:off x="5923280" y="2415637"/>
            <a:ext cx="6096000" cy="2246769"/>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Challenges</a:t>
            </a:r>
          </a:p>
          <a:p>
            <a:pPr lvl="0"/>
            <a:r>
              <a:rPr lang="en-IN" sz="2000" dirty="0">
                <a:latin typeface="Times New Roman" panose="02020603050405020304" pitchFamily="18" charset="0"/>
                <a:cs typeface="Times New Roman" panose="02020603050405020304" pitchFamily="18" charset="0"/>
              </a:rPr>
              <a:t>🔐 Security requirements</a:t>
            </a:r>
          </a:p>
          <a:p>
            <a:pPr lvl="0"/>
            <a:r>
              <a:rPr lang="en-IN" sz="2000" dirty="0">
                <a:latin typeface="Times New Roman" panose="02020603050405020304" pitchFamily="18" charset="0"/>
                <a:cs typeface="Times New Roman" panose="02020603050405020304" pitchFamily="18" charset="0"/>
              </a:rPr>
              <a:t>📈 Scaling many WebSocket connections</a:t>
            </a:r>
          </a:p>
          <a:p>
            <a:pPr lvl="0"/>
            <a:r>
              <a:rPr lang="en-IN" sz="2000" dirty="0">
                <a:latin typeface="Times New Roman" panose="02020603050405020304" pitchFamily="18" charset="0"/>
                <a:cs typeface="Times New Roman" panose="02020603050405020304" pitchFamily="18" charset="0"/>
              </a:rPr>
              <a:t>💰 Edge infrastructure cost</a:t>
            </a:r>
          </a:p>
          <a:p>
            <a:pPr lvl="0"/>
            <a:r>
              <a:rPr lang="en-IN" sz="2000" dirty="0">
                <a:latin typeface="Times New Roman" panose="02020603050405020304" pitchFamily="18" charset="0"/>
                <a:cs typeface="Times New Roman" panose="02020603050405020304" pitchFamily="18" charset="0"/>
              </a:rPr>
              <a:t>📡 5G coverage limitations</a:t>
            </a:r>
          </a:p>
          <a:p>
            <a:pPr lvl="0"/>
            <a:r>
              <a:rPr lang="en-IN" sz="2000" dirty="0">
                <a:latin typeface="Times New Roman" panose="02020603050405020304" pitchFamily="18" charset="0"/>
                <a:cs typeface="Times New Roman" panose="02020603050405020304" pitchFamily="18" charset="0"/>
              </a:rPr>
              <a:t>🔄 Connection failure and reconnection</a:t>
            </a:r>
          </a:p>
          <a:p>
            <a:pPr lvl="0"/>
            <a:r>
              <a:rPr lang="en-IN" sz="2000" dirty="0">
                <a:latin typeface="Times New Roman" panose="02020603050405020304" pitchFamily="18" charset="0"/>
                <a:cs typeface="Times New Roman" panose="02020603050405020304" pitchFamily="18" charset="0"/>
              </a:rPr>
              <a:t>🖥️ Server resource management</a:t>
            </a:r>
          </a:p>
        </p:txBody>
      </p:sp>
    </p:spTree>
    <p:extLst>
      <p:ext uri="{BB962C8B-B14F-4D97-AF65-F5344CB8AC3E}">
        <p14:creationId xmlns:p14="http://schemas.microsoft.com/office/powerpoint/2010/main" val="2476951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EB5C50-30F6-E41D-D5A9-1EB9AAF87947}"/>
              </a:ext>
            </a:extLst>
          </p:cNvPr>
          <p:cNvSpPr txBox="1"/>
          <p:nvPr/>
        </p:nvSpPr>
        <p:spPr>
          <a:xfrm>
            <a:off x="4480560" y="348734"/>
            <a:ext cx="609600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5930C689-EA69-844B-FC64-4715C4152E21}"/>
              </a:ext>
            </a:extLst>
          </p:cNvPr>
          <p:cNvSpPr txBox="1"/>
          <p:nvPr/>
        </p:nvSpPr>
        <p:spPr>
          <a:xfrm>
            <a:off x="1432560" y="1438702"/>
            <a:ext cx="6096000" cy="1631216"/>
          </a:xfrm>
          <a:prstGeom prst="rect">
            <a:avLst/>
          </a:prstGeom>
          <a:noFill/>
        </p:spPr>
        <p:txBody>
          <a:bodyPr wrap="square">
            <a:spAutoFit/>
          </a:bodyPr>
          <a:lstStyle/>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5G</a:t>
            </a:r>
            <a:r>
              <a:rPr lang="en-IN" sz="2000" dirty="0">
                <a:latin typeface="Times New Roman" panose="02020603050405020304" pitchFamily="18" charset="0"/>
                <a:cs typeface="Times New Roman" panose="02020603050405020304" pitchFamily="18" charset="0"/>
              </a:rPr>
              <a:t> → Fast and low-latency connectivity</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Edge Computing</a:t>
            </a:r>
            <a:r>
              <a:rPr lang="en-IN" sz="2000" dirty="0">
                <a:latin typeface="Times New Roman" panose="02020603050405020304" pitchFamily="18" charset="0"/>
                <a:cs typeface="Times New Roman" panose="02020603050405020304" pitchFamily="18" charset="0"/>
              </a:rPr>
              <a:t> → Processing closer to users</a:t>
            </a:r>
          </a:p>
          <a:p>
            <a:pPr marL="342900" lvl="0" indent="-342900">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WebSockets</a:t>
            </a:r>
            <a:r>
              <a:rPr lang="en-IN" sz="2000" dirty="0">
                <a:latin typeface="Times New Roman" panose="02020603050405020304" pitchFamily="18" charset="0"/>
                <a:cs typeface="Times New Roman" panose="02020603050405020304" pitchFamily="18" charset="0"/>
              </a:rPr>
              <a:t> → Persistent real-time communication</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Together → </a:t>
            </a:r>
            <a:r>
              <a:rPr lang="en-IN" sz="2000" b="1" dirty="0">
                <a:latin typeface="Times New Roman" panose="02020603050405020304" pitchFamily="18" charset="0"/>
                <a:cs typeface="Times New Roman" panose="02020603050405020304" pitchFamily="18" charset="0"/>
              </a:rPr>
              <a:t>Responsive and real-time web application</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DD5DF9B-51DD-8467-6A92-465E05AD2186}"/>
              </a:ext>
            </a:extLst>
          </p:cNvPr>
          <p:cNvSpPr txBox="1"/>
          <p:nvPr/>
        </p:nvSpPr>
        <p:spPr>
          <a:xfrm>
            <a:off x="1432560" y="3344278"/>
            <a:ext cx="6096000" cy="1631216"/>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5G, Edge Computing and </a:t>
            </a:r>
            <a:r>
              <a:rPr lang="en-IN" sz="2000" dirty="0" err="1">
                <a:latin typeface="Times New Roman" panose="02020603050405020304" pitchFamily="18" charset="0"/>
                <a:cs typeface="Times New Roman" panose="02020603050405020304" pitchFamily="18" charset="0"/>
              </a:rPr>
              <a:t>WebSockets</a:t>
            </a:r>
            <a:r>
              <a:rPr lang="en-IN" sz="2000" dirty="0">
                <a:latin typeface="Times New Roman" panose="02020603050405020304" pitchFamily="18" charset="0"/>
                <a:cs typeface="Times New Roman" panose="02020603050405020304" pitchFamily="18" charset="0"/>
              </a:rPr>
              <a:t> complement each other. 5G provides fast connectivity, Edge Computing reduces the distance to processing, and </a:t>
            </a:r>
            <a:r>
              <a:rPr lang="en-IN" sz="2000" dirty="0" err="1">
                <a:latin typeface="Times New Roman" panose="02020603050405020304" pitchFamily="18" charset="0"/>
                <a:cs typeface="Times New Roman" panose="02020603050405020304" pitchFamily="18" charset="0"/>
              </a:rPr>
              <a:t>WebSockets</a:t>
            </a:r>
            <a:r>
              <a:rPr lang="en-IN" sz="2000" dirty="0">
                <a:latin typeface="Times New Roman" panose="02020603050405020304" pitchFamily="18" charset="0"/>
                <a:cs typeface="Times New Roman" panose="02020603050405020304" pitchFamily="18" charset="0"/>
              </a:rPr>
              <a:t> enable continuous two-way communication</a:t>
            </a:r>
            <a:r>
              <a:rPr lang="en-IN" sz="2000" b="0" i="0" dirty="0">
                <a:solidFill>
                  <a:srgbClr val="FFFFFF"/>
                </a:solidFill>
                <a:effectLst/>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91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DB5BE6-DBB5-9512-3446-86EE4915E0D3}"/>
              </a:ext>
            </a:extLst>
          </p:cNvPr>
          <p:cNvSpPr txBox="1"/>
          <p:nvPr/>
        </p:nvSpPr>
        <p:spPr>
          <a:xfrm>
            <a:off x="2509520" y="2672080"/>
            <a:ext cx="7172960" cy="1323439"/>
          </a:xfrm>
          <a:prstGeom prst="rect">
            <a:avLst/>
          </a:prstGeom>
          <a:noFill/>
        </p:spPr>
        <p:txBody>
          <a:bodyPr wrap="square" rtlCol="0">
            <a:spAutoFit/>
          </a:bodyPr>
          <a:lstStyle/>
          <a:p>
            <a:pPr algn="ctr"/>
            <a:r>
              <a:rPr lang="en-US" sz="8000" dirty="0">
                <a:latin typeface="Times New Roman" panose="02020603050405020304" pitchFamily="18" charset="0"/>
                <a:cs typeface="Times New Roman" panose="02020603050405020304" pitchFamily="18" charset="0"/>
              </a:rPr>
              <a:t>THANK YOU!</a:t>
            </a:r>
            <a:endParaRPr lang="en-IN" sz="8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9644154"/>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TotalTime>
  <Words>966</Words>
  <Application>Microsoft Office PowerPoint</Application>
  <PresentationFormat>Widescreen</PresentationFormat>
  <Paragraphs>181</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Corbel</vt:lpstr>
      <vt:lpstr>Times New Roman</vt:lpstr>
      <vt:lpstr>Wingdings 2</vt:lpstr>
      <vt:lpstr>Frame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Danuspriyaa R</dc:creator>
  <cp:lastModifiedBy>Danuspriyaa R</cp:lastModifiedBy>
  <cp:revision>1</cp:revision>
  <dcterms:created xsi:type="dcterms:W3CDTF">2026-08-21T04:23:13Z</dcterms:created>
  <dcterms:modified xsi:type="dcterms:W3CDTF">2026-08-24T07:59:39Z</dcterms:modified>
</cp:coreProperties>
</file>